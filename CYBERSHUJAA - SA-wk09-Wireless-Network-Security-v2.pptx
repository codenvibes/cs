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embeddedFontLst>
    <p:embeddedFont>
      <p:font typeface="Libre Franklin"/>
      <p:regular r:id="rId41"/>
      <p:bold r:id="rId42"/>
      <p:italic r:id="rId43"/>
      <p:boldItalic r:id="rId44"/>
    </p:embeddedFont>
    <p:embeddedFont>
      <p:font typeface="Franklin Gothic"/>
      <p:bold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j7LX9L40x0vFIhUKEv4DHsC5+/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4CAF58-56B9-42F1-8A29-A2C36033B5FF}">
  <a:tblStyle styleId="{F24CAF58-56B9-42F1-8A29-A2C36033B5F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LibreFranklin-bold.fntdata"/><Relationship Id="rId41" Type="http://schemas.openxmlformats.org/officeDocument/2006/relationships/font" Target="fonts/LibreFranklin-regular.fntdata"/><Relationship Id="rId22" Type="http://schemas.openxmlformats.org/officeDocument/2006/relationships/slide" Target="slides/slide17.xml"/><Relationship Id="rId44" Type="http://schemas.openxmlformats.org/officeDocument/2006/relationships/font" Target="fonts/LibreFranklin-boldItalic.fntdata"/><Relationship Id="rId21" Type="http://schemas.openxmlformats.org/officeDocument/2006/relationships/slide" Target="slides/slide16.xml"/><Relationship Id="rId43" Type="http://schemas.openxmlformats.org/officeDocument/2006/relationships/font" Target="fonts/LibreFranklin-italic.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FranklinGothic-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https://www.alcolizer.com/white_paper/security-in-bluetooth-and-wi-fi-within-portable-electronic-devices/</a:t>
            </a:r>
            <a:endParaRPr/>
          </a:p>
        </p:txBody>
      </p:sp>
      <p:sp>
        <p:nvSpPr>
          <p:cNvPr id="229" name="Google Shape;2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https://www.alcolizer.com/white_paper/security-in-bluetooth-and-wi-fi-within-portable-electronic-devices/</a:t>
            </a:r>
            <a:endParaRPr/>
          </a:p>
        </p:txBody>
      </p:sp>
      <p:sp>
        <p:nvSpPr>
          <p:cNvPr id="238" name="Google Shape;23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https://www.alcolizer.com/white_paper/security-in-bluetooth-and-wi-fi-within-portable-electronic-devices/</a:t>
            </a:r>
            <a:endParaRPr/>
          </a:p>
        </p:txBody>
      </p:sp>
      <p:sp>
        <p:nvSpPr>
          <p:cNvPr id="247" name="Google Shape;24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WiFi spectrum analysis</a:t>
            </a:r>
            <a:endParaRPr/>
          </a:p>
        </p:txBody>
      </p:sp>
      <p:sp>
        <p:nvSpPr>
          <p:cNvPr id="256" name="Google Shape;25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https://vpnoverview.com/privacy/devices/bluetooth/ </a:t>
            </a:r>
            <a:endParaRPr/>
          </a:p>
          <a:p>
            <a:pPr indent="0" lvl="0" marL="0" rtl="0" algn="l">
              <a:spcBef>
                <a:spcPts val="0"/>
              </a:spcBef>
              <a:spcAft>
                <a:spcPts val="0"/>
              </a:spcAft>
              <a:buNone/>
            </a:pPr>
            <a:r>
              <a:rPr lang="en-US"/>
              <a:t>https://www.nist.gov/publications/guide-bluetooth-security-2</a:t>
            </a:r>
            <a:endParaRPr/>
          </a:p>
        </p:txBody>
      </p:sp>
      <p:sp>
        <p:nvSpPr>
          <p:cNvPr id="269" name="Google Shape;26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https://vpnoverview.com/privacy/devices/bluetooth/ </a:t>
            </a:r>
            <a:endParaRPr/>
          </a:p>
          <a:p>
            <a:pPr indent="0" lvl="0" marL="0" rtl="0" algn="l">
              <a:spcBef>
                <a:spcPts val="0"/>
              </a:spcBef>
              <a:spcAft>
                <a:spcPts val="0"/>
              </a:spcAft>
              <a:buNone/>
            </a:pPr>
            <a:r>
              <a:rPr lang="en-US"/>
              <a:t>https://www.nist.gov/publications/guide-bluetooth-security-2</a:t>
            </a:r>
            <a:endParaRPr/>
          </a:p>
        </p:txBody>
      </p:sp>
      <p:sp>
        <p:nvSpPr>
          <p:cNvPr id="278" name="Google Shape;27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8" name="Google Shape;41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7"/>
          <p:cNvSpPr/>
          <p:nvPr/>
        </p:nvSpPr>
        <p:spPr>
          <a:xfrm>
            <a:off x="446534" y="3085764"/>
            <a:ext cx="11298932" cy="3338149"/>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7"/>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sz="36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7"/>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lnSpc>
                <a:spcPct val="110000"/>
              </a:lnSpc>
              <a:spcBef>
                <a:spcPts val="320"/>
              </a:spcBef>
              <a:spcAft>
                <a:spcPts val="0"/>
              </a:spcAft>
              <a:buSzPts val="1472"/>
              <a:buNone/>
              <a:defRPr sz="1600" cap="none">
                <a:solidFill>
                  <a:schemeClr val="accent1"/>
                </a:solidFill>
              </a:defRPr>
            </a:lvl1pPr>
            <a:lvl2pPr lvl="1" algn="ctr">
              <a:spcBef>
                <a:spcPts val="600"/>
              </a:spcBef>
              <a:spcAft>
                <a:spcPts val="0"/>
              </a:spcAft>
              <a:buSzPts val="1288"/>
              <a:buNone/>
              <a:defRPr>
                <a:solidFill>
                  <a:srgbClr val="888888"/>
                </a:solidFill>
              </a:defRPr>
            </a:lvl2pPr>
            <a:lvl3pPr lvl="2" algn="ctr">
              <a:spcBef>
                <a:spcPts val="600"/>
              </a:spcBef>
              <a:spcAft>
                <a:spcPts val="0"/>
              </a:spcAft>
              <a:buSzPts val="1196"/>
              <a:buNone/>
              <a:defRPr>
                <a:solidFill>
                  <a:srgbClr val="888888"/>
                </a:solidFill>
              </a:defRPr>
            </a:lvl3pPr>
            <a:lvl4pPr lvl="3" algn="ctr">
              <a:spcBef>
                <a:spcPts val="600"/>
              </a:spcBef>
              <a:spcAft>
                <a:spcPts val="0"/>
              </a:spcAft>
              <a:buSzPts val="1012"/>
              <a:buNone/>
              <a:defRPr>
                <a:solidFill>
                  <a:srgbClr val="888888"/>
                </a:solidFill>
              </a:defRPr>
            </a:lvl4pPr>
            <a:lvl5pPr lvl="4" algn="ctr">
              <a:spcBef>
                <a:spcPts val="600"/>
              </a:spcBef>
              <a:spcAft>
                <a:spcPts val="0"/>
              </a:spcAft>
              <a:buSzPts val="1012"/>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3" name="Google Shape;23;p3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8"/>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8"/>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lvl1pPr indent="-368808" lvl="0" marL="457200" algn="l">
              <a:lnSpc>
                <a:spcPct val="110000"/>
              </a:lnSpc>
              <a:spcBef>
                <a:spcPts val="480"/>
              </a:spcBef>
              <a:spcAft>
                <a:spcPts val="0"/>
              </a:spcAft>
              <a:buSzPts val="2208"/>
              <a:buChar char="◼"/>
              <a:defRPr sz="2400"/>
            </a:lvl1pPr>
            <a:lvl2pPr indent="-345440" lvl="1" marL="914400" algn="l">
              <a:spcBef>
                <a:spcPts val="600"/>
              </a:spcBef>
              <a:spcAft>
                <a:spcPts val="0"/>
              </a:spcAft>
              <a:buSzPts val="1840"/>
              <a:buChar char="◼"/>
              <a:defRPr sz="2000"/>
            </a:lvl2pPr>
            <a:lvl3pPr indent="-333756" lvl="2" marL="1371600" algn="l">
              <a:spcBef>
                <a:spcPts val="600"/>
              </a:spcBef>
              <a:spcAft>
                <a:spcPts val="0"/>
              </a:spcAft>
              <a:buSzPts val="1656"/>
              <a:buChar char="◼"/>
              <a:defRPr sz="1800"/>
            </a:lvl3pPr>
            <a:lvl4pPr indent="-322072" lvl="3" marL="1828800" algn="l">
              <a:spcBef>
                <a:spcPts val="600"/>
              </a:spcBef>
              <a:spcAft>
                <a:spcPts val="0"/>
              </a:spcAft>
              <a:buSzPts val="1472"/>
              <a:buChar char="◼"/>
              <a:defRPr sz="1600"/>
            </a:lvl4pPr>
            <a:lvl5pPr indent="-322072" lvl="4" marL="2286000" algn="l">
              <a:spcBef>
                <a:spcPts val="600"/>
              </a:spcBef>
              <a:spcAft>
                <a:spcPts val="0"/>
              </a:spcAft>
              <a:buSzPts val="1472"/>
              <a:buChar char="◼"/>
              <a:defRPr sz="1600"/>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9" name="Google Shape;29;p38"/>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9"/>
          <p:cNvSpPr/>
          <p:nvPr/>
        </p:nvSpPr>
        <p:spPr>
          <a:xfrm>
            <a:off x="447817" y="5141974"/>
            <a:ext cx="11290860" cy="125882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9"/>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3600"/>
              <a:buFont typeface="Franklin Gothic"/>
              <a:buNone/>
              <a:defRPr b="0" sz="3600" cap="none">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9"/>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60"/>
              </a:spcBef>
              <a:spcAft>
                <a:spcPts val="0"/>
              </a:spcAft>
              <a:buSzPts val="1656"/>
              <a:buNone/>
              <a:defRPr sz="1800" cap="none">
                <a:solidFill>
                  <a:schemeClr val="accent1"/>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36" name="Google Shape;36;p39"/>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40"/>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0"/>
          <p:cNvSpPr txBox="1"/>
          <p:nvPr>
            <p:ph idx="1" type="body"/>
          </p:nvPr>
        </p:nvSpPr>
        <p:spPr>
          <a:xfrm>
            <a:off x="581193" y="2228003"/>
            <a:ext cx="5194767"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2" name="Google Shape;42;p40"/>
          <p:cNvSpPr txBox="1"/>
          <p:nvPr>
            <p:ph idx="2" type="body"/>
          </p:nvPr>
        </p:nvSpPr>
        <p:spPr>
          <a:xfrm>
            <a:off x="6416039" y="2228003"/>
            <a:ext cx="5194769" cy="3633047"/>
          </a:xfrm>
          <a:prstGeom prst="rect">
            <a:avLst/>
          </a:prstGeom>
          <a:noFill/>
          <a:ln>
            <a:noFill/>
          </a:ln>
        </p:spPr>
        <p:txBody>
          <a:bodyPr anchorCtr="0" anchor="ctr"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3" name="Google Shape;43;p40"/>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0"/>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46" name="Shape 46"/>
        <p:cNvGrpSpPr/>
        <p:nvPr/>
      </p:nvGrpSpPr>
      <p:grpSpPr>
        <a:xfrm>
          <a:off x="0" y="0"/>
          <a:ext cx="0" cy="0"/>
          <a:chOff x="0" y="0"/>
          <a:chExt cx="0" cy="0"/>
        </a:xfrm>
      </p:grpSpPr>
      <p:sp>
        <p:nvSpPr>
          <p:cNvPr id="47" name="Google Shape;47;p41"/>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 type="body"/>
          </p:nvPr>
        </p:nvSpPr>
        <p:spPr>
          <a:xfrm>
            <a:off x="581191" y="2250891"/>
            <a:ext cx="5194769" cy="557784"/>
          </a:xfrm>
          <a:prstGeom prst="rect">
            <a:avLst/>
          </a:prstGeom>
          <a:noFill/>
          <a:ln>
            <a:noFill/>
          </a:ln>
        </p:spPr>
        <p:txBody>
          <a:bodyPr anchorCtr="0" anchor="ctr" bIns="45700" lIns="91425" spcFirstLastPara="1" rIns="91425" wrap="square" tIns="45700">
            <a:noAutofit/>
          </a:bodyPr>
          <a:lstStyle>
            <a:lvl1pPr indent="-228600" lvl="0" marL="457200" algn="l">
              <a:lnSpc>
                <a:spcPct val="110000"/>
              </a:lnSpc>
              <a:spcBef>
                <a:spcPts val="400"/>
              </a:spcBef>
              <a:spcAft>
                <a:spcPts val="0"/>
              </a:spcAft>
              <a:buSzPts val="1840"/>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49" name="Google Shape;49;p41"/>
          <p:cNvSpPr txBox="1"/>
          <p:nvPr>
            <p:ph idx="2" type="body"/>
          </p:nvPr>
        </p:nvSpPr>
        <p:spPr>
          <a:xfrm>
            <a:off x="581194" y="2926052"/>
            <a:ext cx="5194766"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0" name="Google Shape;50;p41"/>
          <p:cNvSpPr txBox="1"/>
          <p:nvPr>
            <p:ph idx="3" type="body"/>
          </p:nvPr>
        </p:nvSpPr>
        <p:spPr>
          <a:xfrm>
            <a:off x="6416039" y="2250892"/>
            <a:ext cx="5194770" cy="553373"/>
          </a:xfrm>
          <a:prstGeom prst="rect">
            <a:avLst/>
          </a:prstGeom>
          <a:noFill/>
          <a:ln>
            <a:noFill/>
          </a:ln>
        </p:spPr>
        <p:txBody>
          <a:bodyPr anchorCtr="0" anchor="ctr" bIns="45700" lIns="91425" spcFirstLastPara="1" rIns="91425" wrap="square" tIns="45700">
            <a:noAutofit/>
          </a:bodyPr>
          <a:lstStyle>
            <a:lvl1pPr indent="-228600" lvl="0" marL="457200" marR="0" algn="l">
              <a:lnSpc>
                <a:spcPct val="100000"/>
              </a:lnSpc>
              <a:spcBef>
                <a:spcPts val="400"/>
              </a:spcBef>
              <a:spcAft>
                <a:spcPts val="0"/>
              </a:spcAft>
              <a:buClr>
                <a:schemeClr val="accent1"/>
              </a:buClr>
              <a:buSzPts val="1840"/>
              <a:buFont typeface="Noto Sans Symbols"/>
              <a:buNone/>
              <a:defRPr b="0" sz="2000">
                <a:solidFill>
                  <a:srgbClr val="3F3F3F"/>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51" name="Google Shape;51;p41"/>
          <p:cNvSpPr txBox="1"/>
          <p:nvPr>
            <p:ph idx="4" type="body"/>
          </p:nvPr>
        </p:nvSpPr>
        <p:spPr>
          <a:xfrm>
            <a:off x="6416037" y="2926052"/>
            <a:ext cx="5194771" cy="2934999"/>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52" name="Google Shape;52;p41"/>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42"/>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2"/>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42"/>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43"/>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3"/>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44"/>
          <p:cNvSpPr/>
          <p:nvPr/>
        </p:nvSpPr>
        <p:spPr>
          <a:xfrm>
            <a:off x="447817" y="601200"/>
            <a:ext cx="3682723" cy="5815475"/>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4"/>
          <p:cNvSpPr txBox="1"/>
          <p:nvPr>
            <p:ph type="title"/>
          </p:nvPr>
        </p:nvSpPr>
        <p:spPr>
          <a:xfrm>
            <a:off x="767857" y="933450"/>
            <a:ext cx="3031852" cy="172241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2400"/>
              <a:buFont typeface="Franklin Gothic"/>
              <a:buNone/>
              <a:defRPr b="0" sz="2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4"/>
          <p:cNvSpPr txBox="1"/>
          <p:nvPr>
            <p:ph idx="1" type="body"/>
          </p:nvPr>
        </p:nvSpPr>
        <p:spPr>
          <a:xfrm>
            <a:off x="4900928" y="1179829"/>
            <a:ext cx="6650991" cy="4658216"/>
          </a:xfrm>
          <a:prstGeom prst="rect">
            <a:avLst/>
          </a:prstGeom>
          <a:noFill/>
          <a:ln>
            <a:noFill/>
          </a:ln>
        </p:spPr>
        <p:txBody>
          <a:bodyPr anchorCtr="0" anchor="ctr" bIns="45700" lIns="91425" spcFirstLastPara="1" rIns="91425" wrap="square" tIns="45700">
            <a:normAutofit/>
          </a:bodyPr>
          <a:lstStyle>
            <a:lvl1pPr indent="-345440" lvl="0" marL="457200" algn="l">
              <a:lnSpc>
                <a:spcPct val="110000"/>
              </a:lnSpc>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68" name="Google Shape;68;p44"/>
          <p:cNvSpPr txBox="1"/>
          <p:nvPr>
            <p:ph idx="2" type="body"/>
          </p:nvPr>
        </p:nvSpPr>
        <p:spPr>
          <a:xfrm>
            <a:off x="767857" y="2836654"/>
            <a:ext cx="3031852" cy="300139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solidFill>
                  <a:srgbClr val="FFFFFF"/>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69" name="Google Shape;69;p44"/>
          <p:cNvSpPr txBox="1"/>
          <p:nvPr>
            <p:ph idx="10" type="dt"/>
          </p:nvPr>
        </p:nvSpPr>
        <p:spPr>
          <a:xfrm>
            <a:off x="7605951" y="6456916"/>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4"/>
          <p:cNvSpPr txBox="1"/>
          <p:nvPr>
            <p:ph idx="11" type="ftr"/>
          </p:nvPr>
        </p:nvSpPr>
        <p:spPr>
          <a:xfrm>
            <a:off x="581192" y="6452590"/>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4"/>
          <p:cNvSpPr txBox="1"/>
          <p:nvPr>
            <p:ph idx="12" type="sldNum"/>
          </p:nvPr>
        </p:nvSpPr>
        <p:spPr>
          <a:xfrm>
            <a:off x="10558300" y="6456916"/>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45"/>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400"/>
              <a:buFont typeface="Franklin Gothic"/>
              <a:buNone/>
              <a:defRPr b="0" sz="2400">
                <a:solidFill>
                  <a:srgbClr val="3F3F3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5"/>
          <p:cNvSpPr/>
          <p:nvPr>
            <p:ph idx="2" type="pic"/>
          </p:nvPr>
        </p:nvSpPr>
        <p:spPr>
          <a:xfrm>
            <a:off x="447817" y="641350"/>
            <a:ext cx="11290859" cy="3651249"/>
          </a:xfrm>
          <a:prstGeom prst="rect">
            <a:avLst/>
          </a:prstGeom>
          <a:noFill/>
          <a:ln>
            <a:noFill/>
          </a:ln>
        </p:spPr>
      </p:sp>
      <p:sp>
        <p:nvSpPr>
          <p:cNvPr id="75" name="Google Shape;75;p45"/>
          <p:cNvSpPr txBox="1"/>
          <p:nvPr>
            <p:ph idx="1" type="body"/>
          </p:nvPr>
        </p:nvSpPr>
        <p:spPr>
          <a:xfrm>
            <a:off x="581192" y="5260127"/>
            <a:ext cx="11029617" cy="998148"/>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320"/>
              </a:spcBef>
              <a:spcAft>
                <a:spcPts val="0"/>
              </a:spcAft>
              <a:buSzPts val="1472"/>
              <a:buNone/>
              <a:defRPr sz="16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6" name="Google Shape;76;p45"/>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5"/>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46"/>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6"/>
          <p:cNvSpPr txBox="1"/>
          <p:nvPr>
            <p:ph idx="1" type="body"/>
          </p:nvPr>
        </p:nvSpPr>
        <p:spPr>
          <a:xfrm rot="5400000">
            <a:off x="4269977" y="-1352782"/>
            <a:ext cx="3652047" cy="11029616"/>
          </a:xfrm>
          <a:prstGeom prst="rect">
            <a:avLst/>
          </a:prstGeom>
          <a:noFill/>
          <a:ln>
            <a:noFill/>
          </a:ln>
        </p:spPr>
        <p:txBody>
          <a:bodyPr anchorCtr="0" anchor="t" bIns="45700" lIns="91425" spcFirstLastPara="1" rIns="91425" wrap="square" tIns="45700">
            <a:normAutofit/>
          </a:bodyPr>
          <a:lstStyle>
            <a:lvl1pPr indent="-327914" lvl="0" marL="457200" algn="l">
              <a:lnSpc>
                <a:spcPct val="110000"/>
              </a:lnSpc>
              <a:spcBef>
                <a:spcPts val="340"/>
              </a:spcBef>
              <a:spcAft>
                <a:spcPts val="0"/>
              </a:spcAft>
              <a:buSzPts val="1564"/>
              <a:buChar char="◼"/>
              <a:defRPr/>
            </a:lvl1pPr>
            <a:lvl2pPr indent="-310387" lvl="1" marL="914400" algn="l">
              <a:spcBef>
                <a:spcPts val="600"/>
              </a:spcBef>
              <a:spcAft>
                <a:spcPts val="0"/>
              </a:spcAft>
              <a:buSzPts val="1288"/>
              <a:buChar char="◼"/>
              <a:defRPr/>
            </a:lvl2pPr>
            <a:lvl3pPr indent="-304546" lvl="2" marL="1371600" algn="l">
              <a:spcBef>
                <a:spcPts val="600"/>
              </a:spcBef>
              <a:spcAft>
                <a:spcPts val="0"/>
              </a:spcAft>
              <a:buSzPts val="1196"/>
              <a:buChar char="◼"/>
              <a:defRPr/>
            </a:lvl3pPr>
            <a:lvl4pPr indent="-292861" lvl="3" marL="1828800" algn="l">
              <a:spcBef>
                <a:spcPts val="600"/>
              </a:spcBef>
              <a:spcAft>
                <a:spcPts val="0"/>
              </a:spcAft>
              <a:buSzPts val="1012"/>
              <a:buChar char="◼"/>
              <a:defRPr/>
            </a:lvl4pPr>
            <a:lvl5pPr indent="-292861" lvl="4" marL="2286000" algn="l">
              <a:spcBef>
                <a:spcPts val="600"/>
              </a:spcBef>
              <a:spcAft>
                <a:spcPts val="0"/>
              </a:spcAft>
              <a:buSzPts val="1012"/>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2" name="Google Shape;82;p4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6"/>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5" name="Shape 85"/>
        <p:cNvGrpSpPr/>
        <p:nvPr/>
      </p:nvGrpSpPr>
      <p:grpSpPr>
        <a:xfrm>
          <a:off x="0" y="0"/>
          <a:ext cx="0" cy="0"/>
          <a:chOff x="0" y="0"/>
          <a:chExt cx="0" cy="0"/>
        </a:xfrm>
      </p:grpSpPr>
      <p:sp>
        <p:nvSpPr>
          <p:cNvPr id="86" name="Google Shape;86;p47"/>
          <p:cNvSpPr/>
          <p:nvPr/>
        </p:nvSpPr>
        <p:spPr>
          <a:xfrm>
            <a:off x="8058151" y="599725"/>
            <a:ext cx="3687316" cy="5816950"/>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7"/>
          <p:cNvSpPr txBox="1"/>
          <p:nvPr>
            <p:ph type="title"/>
          </p:nvPr>
        </p:nvSpPr>
        <p:spPr>
          <a:xfrm rot="5400000">
            <a:off x="7362637" y="1705163"/>
            <a:ext cx="4807326" cy="3124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FFFFFF"/>
              </a:buClr>
              <a:buSzPts val="2800"/>
              <a:buFont typeface="Franklin Gothic"/>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47"/>
          <p:cNvSpPr txBox="1"/>
          <p:nvPr>
            <p:ph idx="1" type="body"/>
          </p:nvPr>
        </p:nvSpPr>
        <p:spPr>
          <a:xfrm rot="5400000">
            <a:off x="1952072" y="-313549"/>
            <a:ext cx="4807326" cy="7161625"/>
          </a:xfrm>
          <a:prstGeom prst="rect">
            <a:avLst/>
          </a:prstGeom>
          <a:noFill/>
          <a:ln>
            <a:noFill/>
          </a:ln>
        </p:spPr>
        <p:txBody>
          <a:bodyPr anchorCtr="0" anchor="t" bIns="45700" lIns="91425" spcFirstLastPara="1" rIns="91425" wrap="square" tIns="4570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9" name="Google Shape;89;p47"/>
          <p:cNvSpPr/>
          <p:nvPr/>
        </p:nvSpPr>
        <p:spPr>
          <a:xfrm>
            <a:off x="446534" y="457200"/>
            <a:ext cx="3703320" cy="94997"/>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47"/>
          <p:cNvSpPr/>
          <p:nvPr/>
        </p:nvSpPr>
        <p:spPr>
          <a:xfrm>
            <a:off x="8042147" y="453643"/>
            <a:ext cx="3703320" cy="98554"/>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7"/>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7"/>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4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p:cSld name="Title, Content">
    <p:spTree>
      <p:nvGrpSpPr>
        <p:cNvPr id="95" name="Shape 95"/>
        <p:cNvGrpSpPr/>
        <p:nvPr/>
      </p:nvGrpSpPr>
      <p:grpSpPr>
        <a:xfrm>
          <a:off x="0" y="0"/>
          <a:ext cx="0" cy="0"/>
          <a:chOff x="0" y="0"/>
          <a:chExt cx="0" cy="0"/>
        </a:xfrm>
      </p:grpSpPr>
      <p:sp>
        <p:nvSpPr>
          <p:cNvPr id="96" name="Google Shape;96;p48"/>
          <p:cNvSpPr txBox="1"/>
          <p:nvPr>
            <p:ph type="title"/>
          </p:nvPr>
        </p:nvSpPr>
        <p:spPr>
          <a:xfrm>
            <a:off x="566022" y="566002"/>
            <a:ext cx="10971684" cy="1144631"/>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rgbClr val="3F3F3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48"/>
          <p:cNvSpPr txBox="1"/>
          <p:nvPr>
            <p:ph idx="1" type="body"/>
          </p:nvPr>
        </p:nvSpPr>
        <p:spPr>
          <a:xfrm>
            <a:off x="566022" y="2176932"/>
            <a:ext cx="10971684" cy="3976819"/>
          </a:xfrm>
          <a:prstGeom prst="rect">
            <a:avLst/>
          </a:prstGeom>
          <a:noFill/>
          <a:ln>
            <a:noFill/>
          </a:ln>
        </p:spPr>
        <p:txBody>
          <a:bodyPr anchorCtr="0" anchor="t" bIns="0" lIns="0" spcFirstLastPara="1" rIns="0" wrap="square" tIns="0">
            <a:normAutofit/>
          </a:bodyPr>
          <a:lstStyle>
            <a:lvl1pPr indent="-333756" lvl="0" marL="457200" algn="l">
              <a:lnSpc>
                <a:spcPct val="110000"/>
              </a:lnSpc>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3F3F3F"/>
              </a:buClr>
              <a:buSzPts val="2800"/>
              <a:buFont typeface="Franklin Gothic"/>
              <a:buNone/>
              <a:defRPr b="0" i="0" sz="2800" u="none" cap="none" strike="noStrike">
                <a:solidFill>
                  <a:srgbClr val="3F3F3F"/>
                </a:solidFill>
                <a:latin typeface="Franklin Gothic"/>
                <a:ea typeface="Franklin Gothic"/>
                <a:cs typeface="Franklin Gothic"/>
                <a:sym typeface="Franklin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36"/>
          <p:cNvSpPr txBox="1"/>
          <p:nvPr>
            <p:ph idx="1" type="body"/>
          </p:nvPr>
        </p:nvSpPr>
        <p:spPr>
          <a:xfrm>
            <a:off x="581192" y="2336002"/>
            <a:ext cx="11029616" cy="3652047"/>
          </a:xfrm>
          <a:prstGeom prst="rect">
            <a:avLst/>
          </a:prstGeom>
          <a:noFill/>
          <a:ln>
            <a:noFill/>
          </a:ln>
        </p:spPr>
        <p:txBody>
          <a:bodyPr anchorCtr="0" anchor="ctr" bIns="45700" lIns="91425" spcFirstLastPara="1" rIns="91425" wrap="square" tIns="45700">
            <a:normAutofit/>
          </a:bodyPr>
          <a:lstStyle>
            <a:lvl1pPr indent="-327914" lvl="0" marL="457200" marR="0" rtl="0" algn="l">
              <a:lnSpc>
                <a:spcPct val="110000"/>
              </a:lnSpc>
              <a:spcBef>
                <a:spcPts val="340"/>
              </a:spcBef>
              <a:spcAft>
                <a:spcPts val="0"/>
              </a:spcAft>
              <a:buClr>
                <a:schemeClr val="accent1"/>
              </a:buClr>
              <a:buSzPts val="1564"/>
              <a:buFont typeface="Noto Sans Symbols"/>
              <a:buChar char="◼"/>
              <a:defRPr b="0" i="0" sz="1700" u="none" cap="none" strike="noStrike">
                <a:solidFill>
                  <a:srgbClr val="3F3F3F"/>
                </a:solidFill>
                <a:latin typeface="Libre Franklin"/>
                <a:ea typeface="Libre Franklin"/>
                <a:cs typeface="Libre Franklin"/>
                <a:sym typeface="Libre Franklin"/>
              </a:defRPr>
            </a:lvl1pPr>
            <a:lvl2pPr indent="-310387" lvl="1" marL="914400" marR="0" rtl="0" algn="l">
              <a:spcBef>
                <a:spcPts val="600"/>
              </a:spcBef>
              <a:spcAft>
                <a:spcPts val="0"/>
              </a:spcAft>
              <a:buClr>
                <a:schemeClr val="accent1"/>
              </a:buClr>
              <a:buSzPts val="1288"/>
              <a:buFont typeface="Noto Sans Symbols"/>
              <a:buChar char="◼"/>
              <a:defRPr b="0" i="0" sz="1400" u="none" cap="none" strike="noStrike">
                <a:solidFill>
                  <a:srgbClr val="3F3F3F"/>
                </a:solidFill>
                <a:latin typeface="Libre Franklin"/>
                <a:ea typeface="Libre Franklin"/>
                <a:cs typeface="Libre Franklin"/>
                <a:sym typeface="Libre Franklin"/>
              </a:defRPr>
            </a:lvl2pPr>
            <a:lvl3pPr indent="-304546" lvl="2" marL="1371600" marR="0" rtl="0" algn="l">
              <a:spcBef>
                <a:spcPts val="600"/>
              </a:spcBef>
              <a:spcAft>
                <a:spcPts val="0"/>
              </a:spcAft>
              <a:buClr>
                <a:schemeClr val="accent1"/>
              </a:buClr>
              <a:buSzPts val="1196"/>
              <a:buFont typeface="Noto Sans Symbols"/>
              <a:buChar char="◼"/>
              <a:defRPr b="0" i="0" sz="1300" u="none" cap="none" strike="noStrike">
                <a:solidFill>
                  <a:srgbClr val="3F3F3F"/>
                </a:solidFill>
                <a:latin typeface="Libre Franklin"/>
                <a:ea typeface="Libre Franklin"/>
                <a:cs typeface="Libre Franklin"/>
                <a:sym typeface="Libre Franklin"/>
              </a:defRPr>
            </a:lvl3pPr>
            <a:lvl4pPr indent="-292861" lvl="3" marL="18288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4pPr>
            <a:lvl5pPr indent="-292861" lvl="4" marL="2286000" marR="0" rtl="0" algn="l">
              <a:spcBef>
                <a:spcPts val="600"/>
              </a:spcBef>
              <a:spcAft>
                <a:spcPts val="0"/>
              </a:spcAft>
              <a:buClr>
                <a:schemeClr val="accent1"/>
              </a:buClr>
              <a:buSzPts val="1012"/>
              <a:buFont typeface="Noto Sans Symbols"/>
              <a:buChar char="◼"/>
              <a:defRPr b="0" i="0" sz="1100" u="none" cap="none" strike="noStrike">
                <a:solidFill>
                  <a:srgbClr val="3F3F3F"/>
                </a:solidFill>
                <a:latin typeface="Libre Franklin"/>
                <a:ea typeface="Libre Franklin"/>
                <a:cs typeface="Libre Franklin"/>
                <a:sym typeface="Libre Franklin"/>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Libre Franklin"/>
                <a:ea typeface="Libre Franklin"/>
                <a:cs typeface="Libre Franklin"/>
                <a:sym typeface="Libre Franklin"/>
              </a:defRPr>
            </a:lvl9pPr>
          </a:lstStyle>
          <a:p/>
        </p:txBody>
      </p:sp>
      <p:sp>
        <p:nvSpPr>
          <p:cNvPr id="12" name="Google Shape;12;p36"/>
          <p:cNvSpPr txBox="1"/>
          <p:nvPr>
            <p:ph idx="10" type="dt"/>
          </p:nvPr>
        </p:nvSpPr>
        <p:spPr>
          <a:xfrm>
            <a:off x="7605951" y="6423914"/>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36"/>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3F3F3F"/>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4" name="Google Shape;14;p3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3F3F3F"/>
                </a:solidFill>
                <a:latin typeface="Libre Franklin"/>
                <a:ea typeface="Libre Franklin"/>
                <a:cs typeface="Libre Franklin"/>
                <a:sym typeface="Libre Franklin"/>
              </a:defRPr>
            </a:lvl1pPr>
            <a:lvl2pPr indent="0" lvl="1" marL="0" marR="0" rtl="0" algn="r">
              <a:spcBef>
                <a:spcPts val="0"/>
              </a:spcBef>
              <a:buNone/>
              <a:defRPr b="0" i="0" sz="900" u="none" cap="none" strike="noStrike">
                <a:solidFill>
                  <a:srgbClr val="3F3F3F"/>
                </a:solidFill>
                <a:latin typeface="Libre Franklin"/>
                <a:ea typeface="Libre Franklin"/>
                <a:cs typeface="Libre Franklin"/>
                <a:sym typeface="Libre Franklin"/>
              </a:defRPr>
            </a:lvl2pPr>
            <a:lvl3pPr indent="0" lvl="2" marL="0" marR="0" rtl="0" algn="r">
              <a:spcBef>
                <a:spcPts val="0"/>
              </a:spcBef>
              <a:buNone/>
              <a:defRPr b="0" i="0" sz="900" u="none" cap="none" strike="noStrike">
                <a:solidFill>
                  <a:srgbClr val="3F3F3F"/>
                </a:solidFill>
                <a:latin typeface="Libre Franklin"/>
                <a:ea typeface="Libre Franklin"/>
                <a:cs typeface="Libre Franklin"/>
                <a:sym typeface="Libre Franklin"/>
              </a:defRPr>
            </a:lvl3pPr>
            <a:lvl4pPr indent="0" lvl="3" marL="0" marR="0" rtl="0" algn="r">
              <a:spcBef>
                <a:spcPts val="0"/>
              </a:spcBef>
              <a:buNone/>
              <a:defRPr b="0" i="0" sz="900" u="none" cap="none" strike="noStrike">
                <a:solidFill>
                  <a:srgbClr val="3F3F3F"/>
                </a:solidFill>
                <a:latin typeface="Libre Franklin"/>
                <a:ea typeface="Libre Franklin"/>
                <a:cs typeface="Libre Franklin"/>
                <a:sym typeface="Libre Franklin"/>
              </a:defRPr>
            </a:lvl4pPr>
            <a:lvl5pPr indent="0" lvl="4" marL="0" marR="0" rtl="0" algn="r">
              <a:spcBef>
                <a:spcPts val="0"/>
              </a:spcBef>
              <a:buNone/>
              <a:defRPr b="0" i="0" sz="900" u="none" cap="none" strike="noStrike">
                <a:solidFill>
                  <a:srgbClr val="3F3F3F"/>
                </a:solidFill>
                <a:latin typeface="Libre Franklin"/>
                <a:ea typeface="Libre Franklin"/>
                <a:cs typeface="Libre Franklin"/>
                <a:sym typeface="Libre Franklin"/>
              </a:defRPr>
            </a:lvl5pPr>
            <a:lvl6pPr indent="0" lvl="5" marL="0" marR="0" rtl="0" algn="r">
              <a:spcBef>
                <a:spcPts val="0"/>
              </a:spcBef>
              <a:buNone/>
              <a:defRPr b="0" i="0" sz="900" u="none" cap="none" strike="noStrike">
                <a:solidFill>
                  <a:srgbClr val="3F3F3F"/>
                </a:solidFill>
                <a:latin typeface="Libre Franklin"/>
                <a:ea typeface="Libre Franklin"/>
                <a:cs typeface="Libre Franklin"/>
                <a:sym typeface="Libre Franklin"/>
              </a:defRPr>
            </a:lvl6pPr>
            <a:lvl7pPr indent="0" lvl="6" marL="0" marR="0" rtl="0" algn="r">
              <a:spcBef>
                <a:spcPts val="0"/>
              </a:spcBef>
              <a:buNone/>
              <a:defRPr b="0" i="0" sz="900" u="none" cap="none" strike="noStrike">
                <a:solidFill>
                  <a:srgbClr val="3F3F3F"/>
                </a:solidFill>
                <a:latin typeface="Libre Franklin"/>
                <a:ea typeface="Libre Franklin"/>
                <a:cs typeface="Libre Franklin"/>
                <a:sym typeface="Libre Franklin"/>
              </a:defRPr>
            </a:lvl7pPr>
            <a:lvl8pPr indent="0" lvl="7" marL="0" marR="0" rtl="0" algn="r">
              <a:spcBef>
                <a:spcPts val="0"/>
              </a:spcBef>
              <a:buNone/>
              <a:defRPr b="0" i="0" sz="900" u="none" cap="none" strike="noStrike">
                <a:solidFill>
                  <a:srgbClr val="3F3F3F"/>
                </a:solidFill>
                <a:latin typeface="Libre Franklin"/>
                <a:ea typeface="Libre Franklin"/>
                <a:cs typeface="Libre Franklin"/>
                <a:sym typeface="Libre Franklin"/>
              </a:defRPr>
            </a:lvl8pPr>
            <a:lvl9pPr indent="0" lvl="8" marL="0" marR="0" rtl="0" algn="r">
              <a:spcBef>
                <a:spcPts val="0"/>
              </a:spcBef>
              <a:buNone/>
              <a:defRPr b="0" i="0" sz="900" u="none" cap="none" strike="noStrike">
                <a:solidFill>
                  <a:srgbClr val="3F3F3F"/>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36"/>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6"/>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6"/>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 name="Google Shape;18;p36"/>
          <p:cNvPicPr preferRelativeResize="0"/>
          <p:nvPr/>
        </p:nvPicPr>
        <p:blipFill rotWithShape="1">
          <a:blip r:embed="rId1">
            <a:alphaModFix/>
          </a:blip>
          <a:srcRect b="0" l="0" r="0" t="0"/>
          <a:stretch/>
        </p:blipFill>
        <p:spPr>
          <a:xfrm>
            <a:off x="10488192" y="1"/>
            <a:ext cx="1703807" cy="70512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academy.hackthebox.com/"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github.com/aircrack-ng/aircrack-ng"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8.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103" name="Google Shape;103;p1"/>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3600"/>
              <a:buFont typeface="Franklin Gothic"/>
              <a:buNone/>
            </a:pPr>
            <a:r>
              <a:rPr lang="en-US" cap="none"/>
              <a:t>WIRELESS NETWORK SECURITY</a:t>
            </a:r>
            <a:endParaRPr/>
          </a:p>
        </p:txBody>
      </p:sp>
      <p:sp>
        <p:nvSpPr>
          <p:cNvPr id="104" name="Google Shape;104;p1"/>
          <p:cNvSpPr txBox="1"/>
          <p:nvPr>
            <p:ph idx="1" type="subTitle"/>
          </p:nvPr>
        </p:nvSpPr>
        <p:spPr>
          <a:xfrm>
            <a:off x="581194" y="2495445"/>
            <a:ext cx="10993546" cy="468233"/>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656"/>
              <a:buNone/>
            </a:pPr>
            <a:r>
              <a:rPr b="1" lang="en-US" sz="1800" cap="none"/>
              <a:t>WEEK 09</a:t>
            </a:r>
            <a:endParaRPr/>
          </a:p>
        </p:txBody>
      </p:sp>
      <p:sp>
        <p:nvSpPr>
          <p:cNvPr id="105" name="Google Shape;105;p1"/>
          <p:cNvSpPr/>
          <p:nvPr/>
        </p:nvSpPr>
        <p:spPr>
          <a:xfrm>
            <a:off x="446534" y="457200"/>
            <a:ext cx="3703320" cy="94997"/>
          </a:xfrm>
          <a:prstGeom prst="rect">
            <a:avLst/>
          </a:prstGeom>
          <a:solidFill>
            <a:srgbClr val="46535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
          <p:cNvSpPr/>
          <p:nvPr/>
        </p:nvSpPr>
        <p:spPr>
          <a:xfrm>
            <a:off x="4241830" y="457200"/>
            <a:ext cx="3703320" cy="9144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
          <p:cNvSpPr/>
          <p:nvPr/>
        </p:nvSpPr>
        <p:spPr>
          <a:xfrm>
            <a:off x="8042147" y="453643"/>
            <a:ext cx="3703320" cy="98554"/>
          </a:xfrm>
          <a:prstGeom prst="rect">
            <a:avLst/>
          </a:prstGeom>
          <a:solidFill>
            <a:srgbClr val="969F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 close up of a logo&#10;&#10;Description automatically generated" id="108" name="Google Shape;108;p1"/>
          <p:cNvPicPr preferRelativeResize="0"/>
          <p:nvPr/>
        </p:nvPicPr>
        <p:blipFill rotWithShape="1">
          <a:blip r:embed="rId3">
            <a:alphaModFix/>
          </a:blip>
          <a:srcRect b="0" l="0" r="0" t="0"/>
          <a:stretch/>
        </p:blipFill>
        <p:spPr>
          <a:xfrm>
            <a:off x="448733" y="3081867"/>
            <a:ext cx="11260667" cy="3310466"/>
          </a:xfrm>
          <a:prstGeom prst="rect">
            <a:avLst/>
          </a:prstGeom>
          <a:noFill/>
          <a:ln>
            <a:noFill/>
          </a:ln>
        </p:spPr>
      </p:pic>
      <p:sp>
        <p:nvSpPr>
          <p:cNvPr id="109" name="Google Shape;109;p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110" name="Google Shape;110;p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1" name="Google Shape;111;p1"/>
          <p:cNvPicPr preferRelativeResize="0"/>
          <p:nvPr/>
        </p:nvPicPr>
        <p:blipFill rotWithShape="1">
          <a:blip r:embed="rId4">
            <a:alphaModFix/>
          </a:blip>
          <a:srcRect b="0" l="0" r="0" t="0"/>
          <a:stretch/>
        </p:blipFill>
        <p:spPr>
          <a:xfrm>
            <a:off x="9886895" y="-2501"/>
            <a:ext cx="2305105" cy="953971"/>
          </a:xfrm>
          <a:prstGeom prst="rect">
            <a:avLst/>
          </a:prstGeom>
          <a:noFill/>
          <a:ln>
            <a:noFill/>
          </a:ln>
        </p:spPr>
      </p:pic>
    </p:spTree>
  </p:cSld>
  <p:clrMapOvr>
    <a:masterClrMapping/>
  </p:clrMapOvr>
  <p:transition spd="slow" p14:dur="800">
    <p:circl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LEARNING OUTCOMES</a:t>
            </a:r>
            <a:endParaRPr/>
          </a:p>
        </p:txBody>
      </p:sp>
      <p:sp>
        <p:nvSpPr>
          <p:cNvPr id="117" name="Google Shape;117;p2"/>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208"/>
              <a:buNone/>
            </a:pPr>
            <a:r>
              <a:rPr lang="en-US"/>
              <a:t>At the end of this session, the learner should be able to:</a:t>
            </a:r>
            <a:endParaRPr/>
          </a:p>
          <a:p>
            <a:pPr indent="-457200" lvl="0" marL="457200" rtl="0" algn="l">
              <a:lnSpc>
                <a:spcPct val="110000"/>
              </a:lnSpc>
              <a:spcBef>
                <a:spcPts val="1080"/>
              </a:spcBef>
              <a:spcAft>
                <a:spcPts val="0"/>
              </a:spcAft>
              <a:buSzPts val="2208"/>
              <a:buFont typeface="Franklin Gothic"/>
              <a:buAutoNum type="arabicPeriod"/>
            </a:pPr>
            <a:r>
              <a:rPr lang="en-US"/>
              <a:t>Explain prevalent wireless network security threats and weaknesses</a:t>
            </a:r>
            <a:endParaRPr/>
          </a:p>
          <a:p>
            <a:pPr indent="-457200" lvl="0" marL="457200" rtl="0" algn="l">
              <a:lnSpc>
                <a:spcPct val="110000"/>
              </a:lnSpc>
              <a:spcBef>
                <a:spcPts val="1080"/>
              </a:spcBef>
              <a:spcAft>
                <a:spcPts val="0"/>
              </a:spcAft>
              <a:buSzPts val="2208"/>
              <a:buFont typeface="Franklin Gothic"/>
              <a:buAutoNum type="arabicPeriod"/>
            </a:pPr>
            <a:r>
              <a:rPr lang="en-US"/>
              <a:t>Identify current tools and techniques for wireless network security analysis </a:t>
            </a:r>
            <a:endParaRPr/>
          </a:p>
          <a:p>
            <a:pPr indent="-457200" lvl="0" marL="457200" rtl="0" algn="l">
              <a:lnSpc>
                <a:spcPct val="110000"/>
              </a:lnSpc>
              <a:spcBef>
                <a:spcPts val="1080"/>
              </a:spcBef>
              <a:spcAft>
                <a:spcPts val="0"/>
              </a:spcAft>
              <a:buSzPts val="2208"/>
              <a:buFont typeface="Franklin Gothic"/>
              <a:buAutoNum type="arabicPeriod"/>
            </a:pPr>
            <a:r>
              <a:rPr lang="en-US"/>
              <a:t>Use identified tools and techniques to analyze wireless network security</a:t>
            </a:r>
            <a:endParaRPr/>
          </a:p>
          <a:p>
            <a:pPr indent="-457200" lvl="0" marL="457200" rtl="0" algn="l">
              <a:lnSpc>
                <a:spcPct val="110000"/>
              </a:lnSpc>
              <a:spcBef>
                <a:spcPts val="1080"/>
              </a:spcBef>
              <a:spcAft>
                <a:spcPts val="0"/>
              </a:spcAft>
              <a:buSzPts val="2208"/>
              <a:buFont typeface="Franklin Gothic"/>
              <a:buAutoNum type="arabicPeriod"/>
            </a:pPr>
            <a:r>
              <a:rPr lang="en-US"/>
              <a:t>Document findings using appropriate visualizations and reports</a:t>
            </a:r>
            <a:endParaRPr/>
          </a:p>
          <a:p>
            <a:pPr indent="-457200" lvl="0" marL="457200" rtl="0" algn="l">
              <a:lnSpc>
                <a:spcPct val="110000"/>
              </a:lnSpc>
              <a:spcBef>
                <a:spcPts val="1080"/>
              </a:spcBef>
              <a:spcAft>
                <a:spcPts val="0"/>
              </a:spcAft>
              <a:buSzPts val="2208"/>
              <a:buFont typeface="Franklin Gothic"/>
              <a:buAutoNum type="arabicPeriod"/>
            </a:pPr>
            <a:r>
              <a:rPr lang="en-US"/>
              <a:t>Provide recommendations to mitigate/correct security deficiencies identified</a:t>
            </a:r>
            <a:endParaRPr/>
          </a:p>
          <a:p>
            <a:pPr indent="0" lvl="0" marL="0" rtl="0" algn="l">
              <a:lnSpc>
                <a:spcPct val="110000"/>
              </a:lnSpc>
              <a:spcBef>
                <a:spcPts val="1080"/>
              </a:spcBef>
              <a:spcAft>
                <a:spcPts val="0"/>
              </a:spcAft>
              <a:buSzPts val="2208"/>
              <a:buNone/>
            </a:pPr>
            <a:r>
              <a:rPr lang="en-US"/>
              <a:t> </a:t>
            </a:r>
            <a:endParaRPr/>
          </a:p>
        </p:txBody>
      </p:sp>
      <p:sp>
        <p:nvSpPr>
          <p:cNvPr id="118" name="Google Shape;118;p2"/>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119" name="Google Shape;119;p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3"/>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3600"/>
              <a:buFont typeface="Franklin Gothic"/>
              <a:buNone/>
            </a:pPr>
            <a:r>
              <a:rPr lang="en-US"/>
              <a:t>WIRELESS NETWORK SECURITY PRINCIPLES</a:t>
            </a:r>
            <a:endParaRPr/>
          </a:p>
        </p:txBody>
      </p:sp>
      <p:sp>
        <p:nvSpPr>
          <p:cNvPr id="125" name="Google Shape;125;p3"/>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656"/>
              <a:buNone/>
            </a:pPr>
            <a:r>
              <a:t/>
            </a:r>
            <a:endParaRPr/>
          </a:p>
        </p:txBody>
      </p:sp>
      <p:sp>
        <p:nvSpPr>
          <p:cNvPr id="126" name="Google Shape;126;p3"/>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127" name="Google Shape;127;p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WIRELESS</a:t>
            </a:r>
            <a:endParaRPr/>
          </a:p>
        </p:txBody>
      </p:sp>
      <p:sp>
        <p:nvSpPr>
          <p:cNvPr id="133" name="Google Shape;133;p4"/>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fontScale="92500" lnSpcReduction="10000"/>
          </a:bodyPr>
          <a:lstStyle/>
          <a:p>
            <a:pPr indent="-305999" lvl="0" marL="306000" rtl="0" algn="l">
              <a:lnSpc>
                <a:spcPct val="110000"/>
              </a:lnSpc>
              <a:spcBef>
                <a:spcPts val="0"/>
              </a:spcBef>
              <a:spcAft>
                <a:spcPts val="0"/>
              </a:spcAft>
              <a:buSzPct val="92000"/>
              <a:buChar char="◼"/>
            </a:pPr>
            <a:r>
              <a:rPr lang="en-US"/>
              <a:t>Wireless (</a:t>
            </a:r>
            <a:r>
              <a:rPr lang="en-US">
                <a:solidFill>
                  <a:schemeClr val="accent2"/>
                </a:solidFill>
              </a:rPr>
              <a:t>unbounded</a:t>
            </a:r>
            <a:r>
              <a:rPr lang="en-US"/>
              <a:t>) media is a type of media that is used to transmit data from one point to another without using physical wire connections.</a:t>
            </a:r>
            <a:endParaRPr/>
          </a:p>
          <a:p>
            <a:pPr indent="-305999" lvl="0" marL="306000" rtl="0" algn="l">
              <a:lnSpc>
                <a:spcPct val="110000"/>
              </a:lnSpc>
              <a:spcBef>
                <a:spcPts val="1044"/>
              </a:spcBef>
              <a:spcAft>
                <a:spcPts val="0"/>
              </a:spcAft>
              <a:buSzPct val="92000"/>
              <a:buChar char="◼"/>
            </a:pPr>
            <a:r>
              <a:rPr lang="en-US"/>
              <a:t>Use different frequencies of the </a:t>
            </a:r>
            <a:r>
              <a:rPr lang="en-US">
                <a:solidFill>
                  <a:schemeClr val="accent2"/>
                </a:solidFill>
              </a:rPr>
              <a:t>electromagnetic spectrum</a:t>
            </a:r>
            <a:endParaRPr/>
          </a:p>
          <a:p>
            <a:pPr indent="-305999" lvl="0" marL="306000" rtl="0" algn="l">
              <a:lnSpc>
                <a:spcPct val="110000"/>
              </a:lnSpc>
              <a:spcBef>
                <a:spcPts val="1044"/>
              </a:spcBef>
              <a:spcAft>
                <a:spcPts val="0"/>
              </a:spcAft>
              <a:buSzPct val="92000"/>
              <a:buChar char="◼"/>
            </a:pPr>
            <a:r>
              <a:rPr lang="en-US"/>
              <a:t>Travels at the speed of light.</a:t>
            </a:r>
            <a:endParaRPr/>
          </a:p>
          <a:p>
            <a:pPr indent="-305999" lvl="0" marL="306000" rtl="0" algn="l">
              <a:lnSpc>
                <a:spcPct val="110000"/>
              </a:lnSpc>
              <a:spcBef>
                <a:spcPts val="1044"/>
              </a:spcBef>
              <a:spcAft>
                <a:spcPts val="0"/>
              </a:spcAft>
              <a:buSzPct val="92000"/>
              <a:buChar char="◼"/>
            </a:pPr>
            <a:r>
              <a:rPr lang="en-US"/>
              <a:t>A transmitting </a:t>
            </a:r>
            <a:r>
              <a:rPr lang="en-US">
                <a:solidFill>
                  <a:schemeClr val="accent2"/>
                </a:solidFill>
              </a:rPr>
              <a:t>antenna</a:t>
            </a:r>
            <a:r>
              <a:rPr lang="en-US"/>
              <a:t> and a receiver </a:t>
            </a:r>
            <a:r>
              <a:rPr lang="en-US">
                <a:solidFill>
                  <a:schemeClr val="accent2"/>
                </a:solidFill>
              </a:rPr>
              <a:t>aerial</a:t>
            </a:r>
            <a:r>
              <a:rPr lang="en-US"/>
              <a:t> used to facilitate communication.	</a:t>
            </a:r>
            <a:endParaRPr/>
          </a:p>
          <a:p>
            <a:pPr indent="-305999" lvl="0" marL="306000" rtl="0" algn="l">
              <a:lnSpc>
                <a:spcPct val="110000"/>
              </a:lnSpc>
              <a:spcBef>
                <a:spcPts val="1044"/>
              </a:spcBef>
              <a:spcAft>
                <a:spcPts val="0"/>
              </a:spcAft>
              <a:buSzPct val="92000"/>
              <a:buChar char="◼"/>
            </a:pPr>
            <a:r>
              <a:rPr lang="en-US"/>
              <a:t> Examples of wireless communication media include:</a:t>
            </a:r>
            <a:endParaRPr/>
          </a:p>
          <a:p>
            <a:pPr indent="-306000" lvl="1" marL="630000" rtl="0" algn="l">
              <a:spcBef>
                <a:spcPts val="970"/>
              </a:spcBef>
              <a:spcAft>
                <a:spcPts val="0"/>
              </a:spcAft>
              <a:buSzPct val="91999"/>
              <a:buChar char="◼"/>
            </a:pPr>
            <a:r>
              <a:rPr lang="en-US"/>
              <a:t>Radio waves (low frequency, broadcast over wide area, long distances)</a:t>
            </a:r>
            <a:endParaRPr/>
          </a:p>
          <a:p>
            <a:pPr indent="-306000" lvl="1" marL="630000" rtl="0" algn="l">
              <a:spcBef>
                <a:spcPts val="970"/>
              </a:spcBef>
              <a:spcAft>
                <a:spcPts val="0"/>
              </a:spcAft>
              <a:buSzPct val="91999"/>
              <a:buChar char="◼"/>
            </a:pPr>
            <a:r>
              <a:rPr lang="en-US"/>
              <a:t>Microwaves (used for LAN and cellular communications)</a:t>
            </a:r>
            <a:endParaRPr/>
          </a:p>
          <a:p>
            <a:pPr indent="-306000" lvl="1" marL="630000" rtl="0" algn="l">
              <a:spcBef>
                <a:spcPts val="970"/>
              </a:spcBef>
              <a:spcAft>
                <a:spcPts val="0"/>
              </a:spcAft>
              <a:buSzPct val="91999"/>
              <a:buChar char="◼"/>
            </a:pPr>
            <a:r>
              <a:rPr lang="en-US"/>
              <a:t>Infrared (line of sight)</a:t>
            </a:r>
            <a:endParaRPr/>
          </a:p>
          <a:p>
            <a:pPr indent="-305999" lvl="0" marL="306000" rtl="0" algn="l">
              <a:lnSpc>
                <a:spcPct val="110000"/>
              </a:lnSpc>
              <a:spcBef>
                <a:spcPts val="1044"/>
              </a:spcBef>
              <a:spcAft>
                <a:spcPts val="0"/>
              </a:spcAft>
              <a:buSzPct val="92000"/>
              <a:buChar char="◼"/>
            </a:pPr>
            <a:r>
              <a:rPr lang="en-US"/>
              <a:t>WLANs typically use radio waves (e.g. 902 MHz), microwaves (e.g. 2.4 GHz), and infrared (IR) waves (e.g. 820 nm).</a:t>
            </a:r>
            <a:endParaRPr/>
          </a:p>
          <a:p>
            <a:pPr indent="-197923" lvl="1" marL="630000" rtl="0" algn="l">
              <a:spcBef>
                <a:spcPts val="970"/>
              </a:spcBef>
              <a:spcAft>
                <a:spcPts val="0"/>
              </a:spcAft>
              <a:buSzPct val="91999"/>
              <a:buNone/>
            </a:pPr>
            <a:r>
              <a:t/>
            </a:r>
            <a:endParaRPr/>
          </a:p>
        </p:txBody>
      </p:sp>
      <p:sp>
        <p:nvSpPr>
          <p:cNvPr id="134" name="Google Shape;134;p4"/>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135" name="Google Shape;135;p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t/>
            </a:r>
            <a:endParaRPr/>
          </a:p>
        </p:txBody>
      </p:sp>
      <p:pic>
        <p:nvPicPr>
          <p:cNvPr id="141" name="Google Shape;141;p5"/>
          <p:cNvPicPr preferRelativeResize="0"/>
          <p:nvPr>
            <p:ph idx="1" type="body"/>
          </p:nvPr>
        </p:nvPicPr>
        <p:blipFill rotWithShape="1">
          <a:blip r:embed="rId3">
            <a:alphaModFix/>
          </a:blip>
          <a:srcRect b="0" l="0" r="0" t="0"/>
          <a:stretch/>
        </p:blipFill>
        <p:spPr>
          <a:xfrm>
            <a:off x="422758" y="865687"/>
            <a:ext cx="6287604" cy="4948953"/>
          </a:xfrm>
          <a:prstGeom prst="rect">
            <a:avLst/>
          </a:prstGeom>
          <a:noFill/>
          <a:ln>
            <a:noFill/>
          </a:ln>
        </p:spPr>
      </p:pic>
      <p:sp>
        <p:nvSpPr>
          <p:cNvPr id="142" name="Google Shape;142;p5"/>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143" name="Google Shape;143;p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4" name="Google Shape;144;p5"/>
          <p:cNvPicPr preferRelativeResize="0"/>
          <p:nvPr/>
        </p:nvPicPr>
        <p:blipFill rotWithShape="1">
          <a:blip r:embed="rId4">
            <a:alphaModFix/>
          </a:blip>
          <a:srcRect b="0" l="0" r="0" t="0"/>
          <a:stretch/>
        </p:blipFill>
        <p:spPr>
          <a:xfrm>
            <a:off x="6710362" y="2157367"/>
            <a:ext cx="5481638" cy="304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t/>
            </a:r>
            <a:endParaRPr/>
          </a:p>
        </p:txBody>
      </p:sp>
      <p:sp>
        <p:nvSpPr>
          <p:cNvPr id="150" name="Google Shape;150;p6"/>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165792" lvl="0" marL="306000" rtl="0" algn="l">
              <a:lnSpc>
                <a:spcPct val="110000"/>
              </a:lnSpc>
              <a:spcBef>
                <a:spcPts val="0"/>
              </a:spcBef>
              <a:spcAft>
                <a:spcPts val="0"/>
              </a:spcAft>
              <a:buSzPts val="2208"/>
              <a:buNone/>
            </a:pPr>
            <a:r>
              <a:t/>
            </a:r>
            <a:endParaRPr/>
          </a:p>
        </p:txBody>
      </p:sp>
      <p:pic>
        <p:nvPicPr>
          <p:cNvPr id="151" name="Google Shape;151;p6"/>
          <p:cNvPicPr preferRelativeResize="0"/>
          <p:nvPr/>
        </p:nvPicPr>
        <p:blipFill rotWithShape="1">
          <a:blip r:embed="rId3">
            <a:alphaModFix/>
          </a:blip>
          <a:srcRect b="0" l="0" r="0" t="0"/>
          <a:stretch/>
        </p:blipFill>
        <p:spPr>
          <a:xfrm>
            <a:off x="1524000" y="295276"/>
            <a:ext cx="9144000" cy="6562725"/>
          </a:xfrm>
          <a:prstGeom prst="rect">
            <a:avLst/>
          </a:prstGeom>
          <a:noFill/>
          <a:ln>
            <a:noFill/>
          </a:ln>
        </p:spPr>
      </p:pic>
      <p:sp>
        <p:nvSpPr>
          <p:cNvPr id="152" name="Google Shape;152;p6"/>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153" name="Google Shape;153;p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7"/>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WIRELESS</a:t>
            </a:r>
            <a:endParaRPr/>
          </a:p>
        </p:txBody>
      </p:sp>
      <p:sp>
        <p:nvSpPr>
          <p:cNvPr id="159" name="Google Shape;159;p7"/>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10000"/>
              </a:lnSpc>
              <a:spcBef>
                <a:spcPts val="0"/>
              </a:spcBef>
              <a:spcAft>
                <a:spcPts val="0"/>
              </a:spcAft>
              <a:buSzPct val="92000"/>
              <a:buNone/>
            </a:pPr>
            <a:r>
              <a:rPr lang="en-US">
                <a:solidFill>
                  <a:schemeClr val="accent2"/>
                </a:solidFill>
              </a:rPr>
              <a:t>Advantages </a:t>
            </a:r>
            <a:endParaRPr/>
          </a:p>
          <a:p>
            <a:pPr indent="-305999" lvl="0" marL="306000" rtl="0" algn="l">
              <a:lnSpc>
                <a:spcPct val="110000"/>
              </a:lnSpc>
              <a:spcBef>
                <a:spcPts val="1044"/>
              </a:spcBef>
              <a:spcAft>
                <a:spcPts val="0"/>
              </a:spcAft>
              <a:buSzPct val="92000"/>
              <a:buChar char="◼"/>
            </a:pPr>
            <a:r>
              <a:rPr lang="en-US"/>
              <a:t>Does not require installation of media. Makes it easy and quick to setup network, looks good without cables and often cheaper to connect multiple users.</a:t>
            </a:r>
            <a:endParaRPr/>
          </a:p>
          <a:p>
            <a:pPr indent="-305999" lvl="0" marL="306000" rtl="0" algn="l">
              <a:lnSpc>
                <a:spcPct val="110000"/>
              </a:lnSpc>
              <a:spcBef>
                <a:spcPts val="1044"/>
              </a:spcBef>
              <a:spcAft>
                <a:spcPts val="0"/>
              </a:spcAft>
              <a:buSzPct val="92000"/>
              <a:buChar char="◼"/>
            </a:pPr>
            <a:r>
              <a:rPr lang="en-US"/>
              <a:t>Mobility: users can move around freely within the area of the network with their laptops, handheld devices</a:t>
            </a:r>
            <a:endParaRPr/>
          </a:p>
          <a:p>
            <a:pPr indent="-305999" lvl="0" marL="306000" rtl="0" algn="l">
              <a:lnSpc>
                <a:spcPct val="110000"/>
              </a:lnSpc>
              <a:spcBef>
                <a:spcPts val="1044"/>
              </a:spcBef>
              <a:spcAft>
                <a:spcPts val="0"/>
              </a:spcAft>
              <a:buSzPct val="92000"/>
              <a:buChar char="◼"/>
            </a:pPr>
            <a:r>
              <a:rPr lang="en-US"/>
              <a:t>Scalable: easy for users to join network</a:t>
            </a:r>
            <a:endParaRPr/>
          </a:p>
          <a:p>
            <a:pPr indent="0" lvl="0" marL="0" rtl="0" algn="l">
              <a:lnSpc>
                <a:spcPct val="110000"/>
              </a:lnSpc>
              <a:spcBef>
                <a:spcPts val="1044"/>
              </a:spcBef>
              <a:spcAft>
                <a:spcPts val="0"/>
              </a:spcAft>
              <a:buSzPct val="92000"/>
              <a:buNone/>
            </a:pPr>
            <a:r>
              <a:rPr lang="en-US">
                <a:solidFill>
                  <a:schemeClr val="accent2"/>
                </a:solidFill>
              </a:rPr>
              <a:t>Disadvantages</a:t>
            </a:r>
            <a:endParaRPr/>
          </a:p>
          <a:p>
            <a:pPr indent="-305999" lvl="0" marL="306000" rtl="0" algn="l">
              <a:lnSpc>
                <a:spcPct val="110000"/>
              </a:lnSpc>
              <a:spcBef>
                <a:spcPts val="1044"/>
              </a:spcBef>
              <a:spcAft>
                <a:spcPts val="0"/>
              </a:spcAft>
              <a:buSzPct val="92000"/>
              <a:buChar char="◼"/>
            </a:pPr>
            <a:r>
              <a:rPr lang="en-US"/>
              <a:t>Affected by propagation environment effects e.g. reflection, obstruction by objects, interference.</a:t>
            </a:r>
            <a:endParaRPr/>
          </a:p>
          <a:p>
            <a:pPr indent="-305999" lvl="0" marL="306000" rtl="0" algn="l">
              <a:lnSpc>
                <a:spcPct val="110000"/>
              </a:lnSpc>
              <a:spcBef>
                <a:spcPts val="1044"/>
              </a:spcBef>
              <a:spcAft>
                <a:spcPts val="0"/>
              </a:spcAft>
              <a:buSzPct val="92000"/>
              <a:buChar char="◼"/>
            </a:pPr>
            <a:r>
              <a:rPr lang="en-US"/>
              <a:t>Lower data transfer speeds as compared to wired networks</a:t>
            </a:r>
            <a:endParaRPr/>
          </a:p>
          <a:p>
            <a:pPr indent="-305999" lvl="0" marL="306000" rtl="0" algn="l">
              <a:lnSpc>
                <a:spcPct val="110000"/>
              </a:lnSpc>
              <a:spcBef>
                <a:spcPts val="1044"/>
              </a:spcBef>
              <a:spcAft>
                <a:spcPts val="0"/>
              </a:spcAft>
              <a:buSzPct val="92000"/>
              <a:buChar char="◼"/>
            </a:pPr>
            <a:r>
              <a:rPr lang="en-US"/>
              <a:t>Less geographical distance coverage</a:t>
            </a:r>
            <a:endParaRPr/>
          </a:p>
          <a:p>
            <a:pPr indent="-305999" lvl="0" marL="306000" rtl="0" algn="l">
              <a:lnSpc>
                <a:spcPct val="110000"/>
              </a:lnSpc>
              <a:spcBef>
                <a:spcPts val="1044"/>
              </a:spcBef>
              <a:spcAft>
                <a:spcPts val="0"/>
              </a:spcAft>
              <a:buSzPct val="92000"/>
              <a:buChar char="◼"/>
            </a:pPr>
            <a:r>
              <a:rPr lang="en-US"/>
              <a:t>Less secure, hackers can intercept and sniff data as long as signal is within reach</a:t>
            </a:r>
            <a:endParaRPr/>
          </a:p>
          <a:p>
            <a:pPr indent="0" lvl="0" marL="0" rtl="0" algn="l">
              <a:lnSpc>
                <a:spcPct val="110000"/>
              </a:lnSpc>
              <a:spcBef>
                <a:spcPts val="1044"/>
              </a:spcBef>
              <a:spcAft>
                <a:spcPts val="0"/>
              </a:spcAft>
              <a:buSzPct val="92000"/>
              <a:buNone/>
            </a:pPr>
            <a:r>
              <a:t/>
            </a:r>
            <a:endParaRPr/>
          </a:p>
        </p:txBody>
      </p:sp>
      <p:sp>
        <p:nvSpPr>
          <p:cNvPr id="160" name="Google Shape;160;p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161" name="Google Shape;161;p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TYPES OF WIRELESS NETWORKS</a:t>
            </a:r>
            <a:endParaRPr/>
          </a:p>
        </p:txBody>
      </p:sp>
      <p:sp>
        <p:nvSpPr>
          <p:cNvPr id="167" name="Google Shape;167;p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168" name="Google Shape;168;p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Types of Wireless Network" id="169" name="Google Shape;169;p8"/>
          <p:cNvPicPr preferRelativeResize="0"/>
          <p:nvPr/>
        </p:nvPicPr>
        <p:blipFill rotWithShape="1">
          <a:blip r:embed="rId3">
            <a:alphaModFix/>
          </a:blip>
          <a:srcRect b="0" l="0" r="0" t="0"/>
          <a:stretch/>
        </p:blipFill>
        <p:spPr>
          <a:xfrm>
            <a:off x="2923310" y="1442312"/>
            <a:ext cx="6740155" cy="5055117"/>
          </a:xfrm>
          <a:prstGeom prst="rect">
            <a:avLst/>
          </a:prstGeom>
          <a:noFill/>
          <a:ln>
            <a:noFill/>
          </a:ln>
        </p:spPr>
      </p:pic>
      <p:sp>
        <p:nvSpPr>
          <p:cNvPr id="170" name="Google Shape;170;p8"/>
          <p:cNvSpPr txBox="1"/>
          <p:nvPr/>
        </p:nvSpPr>
        <p:spPr>
          <a:xfrm>
            <a:off x="2798616" y="5762972"/>
            <a:ext cx="1856509" cy="369332"/>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71" name="Google Shape;171;p8"/>
          <p:cNvSpPr txBox="1"/>
          <p:nvPr/>
        </p:nvSpPr>
        <p:spPr>
          <a:xfrm>
            <a:off x="581192" y="1733922"/>
            <a:ext cx="3761030"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Libre Franklin"/>
                <a:ea typeface="Libre Franklin"/>
                <a:cs typeface="Libre Franklin"/>
                <a:sym typeface="Libre Franklin"/>
              </a:rPr>
              <a:t>WPAN - Wireless Personal-Area Networks</a:t>
            </a:r>
            <a:endParaRPr/>
          </a:p>
          <a:p>
            <a:pPr indent="0" lvl="0" marL="0" marR="0" rtl="0" algn="l">
              <a:spcBef>
                <a:spcPts val="0"/>
              </a:spcBef>
              <a:spcAft>
                <a:spcPts val="0"/>
              </a:spcAft>
              <a:buNone/>
            </a:pPr>
            <a:r>
              <a:rPr lang="en-US" sz="1600">
                <a:solidFill>
                  <a:schemeClr val="dk1"/>
                </a:solidFill>
                <a:latin typeface="Libre Franklin"/>
                <a:ea typeface="Libre Franklin"/>
                <a:cs typeface="Libre Franklin"/>
                <a:sym typeface="Libre Franklin"/>
              </a:rPr>
              <a:t>WLAN - Wireless LANs </a:t>
            </a:r>
            <a:endParaRPr/>
          </a:p>
          <a:p>
            <a:pPr indent="0" lvl="0" marL="0" marR="0" rtl="0" algn="l">
              <a:spcBef>
                <a:spcPts val="0"/>
              </a:spcBef>
              <a:spcAft>
                <a:spcPts val="0"/>
              </a:spcAft>
              <a:buNone/>
            </a:pPr>
            <a:r>
              <a:rPr lang="en-US" sz="1600">
                <a:solidFill>
                  <a:schemeClr val="dk1"/>
                </a:solidFill>
                <a:latin typeface="Libre Franklin"/>
                <a:ea typeface="Libre Franklin"/>
                <a:cs typeface="Libre Franklin"/>
                <a:sym typeface="Libre Franklin"/>
              </a:rPr>
              <a:t>WMAN - Wireless MANs</a:t>
            </a:r>
            <a:endParaRPr/>
          </a:p>
          <a:p>
            <a:pPr indent="0" lvl="0" marL="0" marR="0" rtl="0" algn="l">
              <a:spcBef>
                <a:spcPts val="0"/>
              </a:spcBef>
              <a:spcAft>
                <a:spcPts val="0"/>
              </a:spcAft>
              <a:buNone/>
            </a:pPr>
            <a:r>
              <a:rPr lang="en-US" sz="1600">
                <a:solidFill>
                  <a:schemeClr val="dk1"/>
                </a:solidFill>
                <a:latin typeface="Libre Franklin"/>
                <a:ea typeface="Libre Franklin"/>
                <a:cs typeface="Libre Franklin"/>
                <a:sym typeface="Libre Franklin"/>
              </a:rPr>
              <a:t>WWANs - Wireless Wide-Area Networks</a:t>
            </a:r>
            <a:endParaRPr/>
          </a:p>
        </p:txBody>
      </p:sp>
      <p:sp>
        <p:nvSpPr>
          <p:cNvPr id="172" name="Google Shape;172;p8"/>
          <p:cNvSpPr txBox="1"/>
          <p:nvPr/>
        </p:nvSpPr>
        <p:spPr>
          <a:xfrm>
            <a:off x="581192" y="4856201"/>
            <a:ext cx="331964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Libre Franklin"/>
                <a:ea typeface="Libre Franklin"/>
                <a:cs typeface="Libre Franklin"/>
                <a:sym typeface="Libre Franklin"/>
              </a:rPr>
              <a:t>Standards</a:t>
            </a:r>
            <a:endParaRPr/>
          </a:p>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IEEE802.11 - WLAN and WiFi </a:t>
            </a:r>
            <a:endParaRPr/>
          </a:p>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IEEE802.15 - Bluetooth</a:t>
            </a:r>
            <a:endParaRPr/>
          </a:p>
          <a:p>
            <a:pPr indent="0" lvl="0" marL="0" marR="0" rtl="0" algn="l">
              <a:spcBef>
                <a:spcPts val="0"/>
              </a:spcBef>
              <a:spcAft>
                <a:spcPts val="0"/>
              </a:spcAft>
              <a:buNone/>
            </a:pPr>
            <a:r>
              <a:rPr lang="en-US" sz="1800">
                <a:solidFill>
                  <a:schemeClr val="dk1"/>
                </a:solidFill>
                <a:latin typeface="Libre Franklin"/>
                <a:ea typeface="Libre Franklin"/>
                <a:cs typeface="Libre Franklin"/>
                <a:sym typeface="Libre Franklin"/>
              </a:rPr>
              <a:t>IEEE802.16 - WiMax</a:t>
            </a:r>
            <a:endParaRPr sz="1800">
              <a:solidFill>
                <a:schemeClr val="dk1"/>
              </a:solidFill>
              <a:latin typeface="Libre Franklin"/>
              <a:ea typeface="Libre Franklin"/>
              <a:cs typeface="Libre Franklin"/>
              <a:sym typeface="Libre Frankli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9"/>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WIRELESS LAN</a:t>
            </a:r>
            <a:endParaRPr/>
          </a:p>
        </p:txBody>
      </p:sp>
      <p:sp>
        <p:nvSpPr>
          <p:cNvPr id="178" name="Google Shape;178;p9"/>
          <p:cNvSpPr txBox="1"/>
          <p:nvPr>
            <p:ph idx="1" type="body"/>
          </p:nvPr>
        </p:nvSpPr>
        <p:spPr>
          <a:xfrm>
            <a:off x="581193" y="1442312"/>
            <a:ext cx="6484184"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t>Provides link-local connection on layers 1 &amp; 2</a:t>
            </a:r>
            <a:endParaRPr/>
          </a:p>
          <a:p>
            <a:pPr indent="0" lvl="0" marL="0" rtl="0" algn="l">
              <a:lnSpc>
                <a:spcPct val="110000"/>
              </a:lnSpc>
              <a:spcBef>
                <a:spcPts val="1080"/>
              </a:spcBef>
              <a:spcAft>
                <a:spcPts val="0"/>
              </a:spcAft>
              <a:buSzPts val="2208"/>
              <a:buNone/>
            </a:pPr>
            <a:r>
              <a:rPr lang="en-US"/>
              <a:t>The topology illustrated:</a:t>
            </a:r>
            <a:endParaRPr/>
          </a:p>
          <a:p>
            <a:pPr indent="-306000" lvl="0" marL="306000" rtl="0" algn="l">
              <a:lnSpc>
                <a:spcPct val="110000"/>
              </a:lnSpc>
              <a:spcBef>
                <a:spcPts val="1080"/>
              </a:spcBef>
              <a:spcAft>
                <a:spcPts val="0"/>
              </a:spcAft>
              <a:buSzPts val="2208"/>
              <a:buChar char="◼"/>
            </a:pPr>
            <a:r>
              <a:rPr lang="en-US">
                <a:solidFill>
                  <a:schemeClr val="accent2"/>
                </a:solidFill>
              </a:rPr>
              <a:t>Basic Service Set (BSS) </a:t>
            </a:r>
            <a:r>
              <a:rPr lang="en-US"/>
              <a:t>– central Access Point and its clients</a:t>
            </a:r>
            <a:endParaRPr/>
          </a:p>
          <a:p>
            <a:pPr indent="-306000" lvl="0" marL="306000" rtl="0" algn="l">
              <a:lnSpc>
                <a:spcPct val="110000"/>
              </a:lnSpc>
              <a:spcBef>
                <a:spcPts val="1080"/>
              </a:spcBef>
              <a:spcAft>
                <a:spcPts val="0"/>
              </a:spcAft>
              <a:buSzPts val="2208"/>
              <a:buChar char="◼"/>
            </a:pPr>
            <a:r>
              <a:rPr lang="en-US">
                <a:solidFill>
                  <a:schemeClr val="accent2"/>
                </a:solidFill>
              </a:rPr>
              <a:t>Extended Service Set (ESS) </a:t>
            </a:r>
            <a:r>
              <a:rPr lang="en-US"/>
              <a:t>– multiple Access Points in a switched network with same SSID but each AP with its own unique BSSID.</a:t>
            </a:r>
            <a:endParaRPr/>
          </a:p>
          <a:p>
            <a:pPr indent="-306000" lvl="0" marL="306000" rtl="0" algn="l">
              <a:lnSpc>
                <a:spcPct val="110000"/>
              </a:lnSpc>
              <a:spcBef>
                <a:spcPts val="1080"/>
              </a:spcBef>
              <a:spcAft>
                <a:spcPts val="0"/>
              </a:spcAft>
              <a:buSzPts val="2208"/>
              <a:buChar char="◼"/>
            </a:pPr>
            <a:r>
              <a:rPr lang="en-US">
                <a:solidFill>
                  <a:schemeClr val="accent2"/>
                </a:solidFill>
              </a:rPr>
              <a:t>Independent Basic Service Set (IBSS) </a:t>
            </a:r>
            <a:r>
              <a:rPr lang="en-US"/>
              <a:t>– clients directly communicating with each other without need of Access Point. </a:t>
            </a:r>
            <a:endParaRPr>
              <a:solidFill>
                <a:schemeClr val="accent2"/>
              </a:solidFill>
            </a:endParaRPr>
          </a:p>
          <a:p>
            <a:pPr indent="0" lvl="0" marL="0" rtl="0" algn="l">
              <a:lnSpc>
                <a:spcPct val="110000"/>
              </a:lnSpc>
              <a:spcBef>
                <a:spcPts val="1080"/>
              </a:spcBef>
              <a:spcAft>
                <a:spcPts val="0"/>
              </a:spcAft>
              <a:buSzPts val="2208"/>
              <a:buNone/>
            </a:pPr>
            <a:r>
              <a:t/>
            </a:r>
            <a:endParaRPr>
              <a:solidFill>
                <a:schemeClr val="accent2"/>
              </a:solidFill>
            </a:endParaRPr>
          </a:p>
          <a:p>
            <a:pPr indent="-165792" lvl="0" marL="306000" rtl="0" algn="l">
              <a:lnSpc>
                <a:spcPct val="110000"/>
              </a:lnSpc>
              <a:spcBef>
                <a:spcPts val="1080"/>
              </a:spcBef>
              <a:spcAft>
                <a:spcPts val="0"/>
              </a:spcAft>
              <a:buSzPts val="2208"/>
              <a:buNone/>
            </a:pPr>
            <a:r>
              <a:t/>
            </a:r>
            <a:endParaRPr/>
          </a:p>
        </p:txBody>
      </p:sp>
      <p:sp>
        <p:nvSpPr>
          <p:cNvPr id="179" name="Google Shape;179;p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180" name="Google Shape;180;p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Wireless Principles | BSS | ESS | IBSS | Antenna Types ⋆ IpCisco" id="181" name="Google Shape;181;p9"/>
          <p:cNvPicPr preferRelativeResize="0"/>
          <p:nvPr/>
        </p:nvPicPr>
        <p:blipFill rotWithShape="1">
          <a:blip r:embed="rId3">
            <a:alphaModFix/>
          </a:blip>
          <a:srcRect b="0" l="0" r="0" t="0"/>
          <a:stretch/>
        </p:blipFill>
        <p:spPr>
          <a:xfrm>
            <a:off x="7065377" y="1966200"/>
            <a:ext cx="4962525" cy="3933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0"/>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WIRELESS LAN</a:t>
            </a:r>
            <a:endParaRPr/>
          </a:p>
        </p:txBody>
      </p:sp>
      <p:sp>
        <p:nvSpPr>
          <p:cNvPr id="187" name="Google Shape;187;p10"/>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t>WiFi uses </a:t>
            </a:r>
            <a:r>
              <a:rPr lang="en-US">
                <a:solidFill>
                  <a:schemeClr val="accent2"/>
                </a:solidFill>
              </a:rPr>
              <a:t>unlicensed spectrum</a:t>
            </a:r>
            <a:r>
              <a:rPr lang="en-US"/>
              <a:t>. License fees are not usually required to operate WiFi equipment. The </a:t>
            </a:r>
            <a:r>
              <a:rPr lang="en-US">
                <a:solidFill>
                  <a:schemeClr val="accent2"/>
                </a:solidFill>
              </a:rPr>
              <a:t>Industrial, Scientific and Medical (ISM) </a:t>
            </a:r>
            <a:r>
              <a:rPr lang="en-US"/>
              <a:t>bands allow for unlicensed use of 2.4-2.5 GHz, 5.8 GHz, and many other (non-WiFi) frequencies.</a:t>
            </a:r>
            <a:endParaRPr/>
          </a:p>
          <a:p>
            <a:pPr indent="-306000" lvl="0" marL="306000" rtl="0" algn="l">
              <a:lnSpc>
                <a:spcPct val="110000"/>
              </a:lnSpc>
              <a:spcBef>
                <a:spcPts val="1080"/>
              </a:spcBef>
              <a:spcAft>
                <a:spcPts val="0"/>
              </a:spcAft>
              <a:buSzPts val="2208"/>
              <a:buChar char="◼"/>
            </a:pPr>
            <a:r>
              <a:rPr lang="en-US"/>
              <a:t> WiFi devices must use the same channel in order to communicate with each other. They send and receive on the same channel, so only one device may transmit at any time. This kind of connection is called </a:t>
            </a:r>
            <a:r>
              <a:rPr lang="en-US">
                <a:solidFill>
                  <a:schemeClr val="accent2"/>
                </a:solidFill>
              </a:rPr>
              <a:t>half-duplex.</a:t>
            </a:r>
            <a:endParaRPr/>
          </a:p>
          <a:p>
            <a:pPr indent="0" lvl="0" marL="0" rtl="0" algn="l">
              <a:lnSpc>
                <a:spcPct val="110000"/>
              </a:lnSpc>
              <a:spcBef>
                <a:spcPts val="1080"/>
              </a:spcBef>
              <a:spcAft>
                <a:spcPts val="0"/>
              </a:spcAft>
              <a:buSzPts val="2208"/>
              <a:buNone/>
            </a:pPr>
            <a:r>
              <a:t/>
            </a:r>
            <a:endParaRPr>
              <a:solidFill>
                <a:schemeClr val="accent2"/>
              </a:solidFill>
            </a:endParaRPr>
          </a:p>
          <a:p>
            <a:pPr indent="-165792" lvl="0" marL="306000" rtl="0" algn="l">
              <a:lnSpc>
                <a:spcPct val="110000"/>
              </a:lnSpc>
              <a:spcBef>
                <a:spcPts val="1080"/>
              </a:spcBef>
              <a:spcAft>
                <a:spcPts val="0"/>
              </a:spcAft>
              <a:buSzPts val="2208"/>
              <a:buNone/>
            </a:pPr>
            <a:r>
              <a:t/>
            </a:r>
            <a:endParaRPr/>
          </a:p>
        </p:txBody>
      </p:sp>
      <p:sp>
        <p:nvSpPr>
          <p:cNvPr id="188" name="Google Shape;188;p10"/>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189" name="Google Shape;189;p1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2.4 GHz Channel Planning | Extreme Networks" id="190" name="Google Shape;190;p10"/>
          <p:cNvPicPr preferRelativeResize="0"/>
          <p:nvPr/>
        </p:nvPicPr>
        <p:blipFill rotWithShape="1">
          <a:blip r:embed="rId3">
            <a:alphaModFix/>
          </a:blip>
          <a:srcRect b="0" l="0" r="0" t="0"/>
          <a:stretch/>
        </p:blipFill>
        <p:spPr>
          <a:xfrm>
            <a:off x="2749449" y="4750926"/>
            <a:ext cx="6096000" cy="2438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1"/>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IEEE 802.11 WLAN STANDARDS</a:t>
            </a:r>
            <a:endParaRPr/>
          </a:p>
        </p:txBody>
      </p:sp>
      <p:sp>
        <p:nvSpPr>
          <p:cNvPr id="196" name="Google Shape;196;p11"/>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165792" lvl="0" marL="306000" rtl="0" algn="l">
              <a:lnSpc>
                <a:spcPct val="110000"/>
              </a:lnSpc>
              <a:spcBef>
                <a:spcPts val="0"/>
              </a:spcBef>
              <a:spcAft>
                <a:spcPts val="0"/>
              </a:spcAft>
              <a:buSzPts val="2208"/>
              <a:buNone/>
            </a:pPr>
            <a:r>
              <a:t/>
            </a:r>
            <a:endParaRPr/>
          </a:p>
        </p:txBody>
      </p:sp>
      <p:sp>
        <p:nvSpPr>
          <p:cNvPr id="197" name="Google Shape;197;p1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198" name="Google Shape;198;p1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199" name="Google Shape;199;p11"/>
          <p:cNvGraphicFramePr/>
          <p:nvPr/>
        </p:nvGraphicFramePr>
        <p:xfrm>
          <a:off x="277091" y="1442312"/>
          <a:ext cx="3000000" cy="3000000"/>
        </p:xfrm>
        <a:graphic>
          <a:graphicData uri="http://schemas.openxmlformats.org/drawingml/2006/table">
            <a:tbl>
              <a:tblPr>
                <a:noFill/>
                <a:tableStyleId>{F24CAF58-56B9-42F1-8A29-A2C36033B5FF}</a:tableStyleId>
              </a:tblPr>
              <a:tblGrid>
                <a:gridCol w="1939625"/>
                <a:gridCol w="946500"/>
                <a:gridCol w="1321075"/>
                <a:gridCol w="1287925"/>
                <a:gridCol w="1373775"/>
                <a:gridCol w="1545500"/>
                <a:gridCol w="1459650"/>
                <a:gridCol w="1459650"/>
              </a:tblGrid>
              <a:tr h="45720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Characteristic</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D9F1"/>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802.11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D9F1"/>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802.11a</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D9F1"/>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802.11b</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D9F1"/>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802.11g</a:t>
                      </a:r>
                      <a:br>
                        <a:rPr b="0" i="0" lang="en-US" sz="1600" u="none" cap="none" strike="noStrike">
                          <a:solidFill>
                            <a:schemeClr val="dk1"/>
                          </a:solidFill>
                          <a:latin typeface="Arial"/>
                          <a:ea typeface="Arial"/>
                          <a:cs typeface="Arial"/>
                          <a:sym typeface="Arial"/>
                        </a:rPr>
                      </a:br>
                      <a:endParaRPr b="0" i="0" sz="1600" u="none" cap="none" strike="noStrike">
                        <a:solidFill>
                          <a:schemeClr val="dk1"/>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D9F1"/>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802.11n </a:t>
                      </a: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Wi-Fi 4</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D9F1"/>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802.11ac</a:t>
                      </a: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Wi-Fi 5</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D9F1"/>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802.11ax </a:t>
                      </a: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Wi-Fi 6</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6D9F1"/>
                    </a:solidFill>
                  </a:tcPr>
                </a:tc>
              </a:tr>
              <a:tr h="180975">
                <a:tc>
                  <a:txBody>
                    <a:bodyPr/>
                    <a:lstStyle/>
                    <a:p>
                      <a:pPr indent="0" lvl="0" marL="0" marR="0" rtl="0" algn="l">
                        <a:lnSpc>
                          <a:spcPct val="100000"/>
                        </a:lnSpc>
                        <a:spcBef>
                          <a:spcPts val="0"/>
                        </a:spcBef>
                        <a:spcAft>
                          <a:spcPts val="0"/>
                        </a:spcAft>
                        <a:buClr>
                          <a:schemeClr val="dk1"/>
                        </a:buClr>
                        <a:buSzPts val="1600"/>
                        <a:buFont typeface="Libre Franklin"/>
                        <a:buNone/>
                      </a:pPr>
                      <a:r>
                        <a:t/>
                      </a:r>
                      <a:endParaRPr b="0" i="0" sz="1600" u="none" cap="none" strike="noStrike">
                        <a:solidFill>
                          <a:schemeClr val="dk1"/>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Sept 97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Sept 99</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Dec 99</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June 2003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Sept 2009</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Dec 2013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Feb 2021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r>
              <a:tr h="180975">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Spread Spectrum Method, etc.</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FHSS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OFDM</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DSSS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OFDM</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OFDM + MIMO</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OFDM + MIMO</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OFDMA</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r>
              <a:tr h="20320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Unlicensed Band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2.4 GHz</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5 GHz</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2.4 GHz</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2.4 GHz</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2.4 GHz and 5 GHz</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5 GHz only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2.4 GHz, 5 GHz and 6 GHz</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r>
              <a:tr h="20320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Rated Speed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54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11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54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100  to</a:t>
                      </a: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600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433 Mbps to</a:t>
                      </a: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6.93 Gbps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600Mbps to 9.6Gbps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r>
              <a:tr h="20320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Actual Throughput, </a:t>
                      </a:r>
                      <a:br>
                        <a:rPr b="0" i="0" lang="en-US" sz="1600" u="none" cap="none" strike="noStrike">
                          <a:solidFill>
                            <a:schemeClr val="dk1"/>
                          </a:solidFill>
                          <a:latin typeface="Arial"/>
                          <a:ea typeface="Arial"/>
                          <a:cs typeface="Arial"/>
                          <a:sym typeface="Arial"/>
                        </a:rPr>
                      </a:br>
                      <a:r>
                        <a:rPr b="0" i="0" lang="en-US" sz="1600" u="none" cap="none" strike="noStrike">
                          <a:solidFill>
                            <a:schemeClr val="dk1"/>
                          </a:solidFill>
                          <a:latin typeface="Arial"/>
                          <a:ea typeface="Arial"/>
                          <a:cs typeface="Arial"/>
                          <a:sym typeface="Arial"/>
                        </a:rPr>
                        <a:t>3 m</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25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6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25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70-80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Closer to rated speed than earlier standards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Libre Franklin"/>
                        <a:buNone/>
                      </a:pPr>
                      <a:r>
                        <a:t/>
                      </a:r>
                      <a:endParaRPr b="0" i="0" sz="1600" u="none" cap="none" strike="noStrike">
                        <a:solidFill>
                          <a:schemeClr val="dk1"/>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r>
              <a:tr h="20320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Actual Throughput 30 m</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12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6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20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50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70-100 Mbps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Libre Franklin"/>
                        <a:buNone/>
                      </a:pPr>
                      <a:r>
                        <a:t/>
                      </a:r>
                      <a:endParaRPr b="0" i="0" sz="1600" u="none" cap="none" strike="noStrike">
                        <a:solidFill>
                          <a:schemeClr val="dk1"/>
                        </a:solidFill>
                        <a:latin typeface="Arial"/>
                        <a:ea typeface="Arial"/>
                        <a:cs typeface="Arial"/>
                        <a:sym typeface="Arial"/>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r>
              <a:tr h="203200">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Remarks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Dead and gone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Little market acceptance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Bloomed briefly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Now obsolete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Today’s dominant 802.11 standard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Growing rapidly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Latest, higher user density near 10G </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ECFF"/>
                    </a:solidFill>
                  </a:tcPr>
                </a:tc>
              </a:tr>
            </a:tbl>
          </a:graphicData>
        </a:graphic>
      </p:graphicFrame>
      <p:sp>
        <p:nvSpPr>
          <p:cNvPr id="200" name="Google Shape;200;p11"/>
          <p:cNvSpPr/>
          <p:nvPr/>
        </p:nvSpPr>
        <p:spPr>
          <a:xfrm>
            <a:off x="7758545" y="924474"/>
            <a:ext cx="385226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Libre Franklin"/>
                <a:ea typeface="Libre Franklin"/>
                <a:cs typeface="Libre Franklin"/>
                <a:sym typeface="Libre Franklin"/>
              </a:rPr>
              <a:t>*Wi-Fi 7 - 802.11be expected in 2024</a:t>
            </a:r>
            <a:endParaRPr sz="16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WIRELESS ENCRYPTION PROTOCOLS</a:t>
            </a:r>
            <a:endParaRPr/>
          </a:p>
        </p:txBody>
      </p:sp>
      <p:sp>
        <p:nvSpPr>
          <p:cNvPr id="206" name="Google Shape;206;p12"/>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solidFill>
                  <a:schemeClr val="accent2"/>
                </a:solidFill>
              </a:rPr>
              <a:t>WEP (Wired Equivalent Privacy) </a:t>
            </a:r>
            <a:r>
              <a:rPr lang="en-US"/>
              <a:t>- the first Wi-Fi security protocol approved in September 1999. Highly vulnerable. Keys are easy to crack.</a:t>
            </a:r>
            <a:endParaRPr/>
          </a:p>
          <a:p>
            <a:pPr indent="-306000" lvl="0" marL="306000" rtl="0" algn="l">
              <a:lnSpc>
                <a:spcPct val="110000"/>
              </a:lnSpc>
              <a:spcBef>
                <a:spcPts val="1080"/>
              </a:spcBef>
              <a:spcAft>
                <a:spcPts val="0"/>
              </a:spcAft>
              <a:buSzPts val="2208"/>
              <a:buChar char="◼"/>
            </a:pPr>
            <a:r>
              <a:rPr lang="en-US">
                <a:solidFill>
                  <a:schemeClr val="accent2"/>
                </a:solidFill>
              </a:rPr>
              <a:t>WPA (Wi-Fi Protected Access)</a:t>
            </a:r>
            <a:r>
              <a:rPr lang="en-US"/>
              <a:t> - temporary replacement of WEP. Provides two modes: WPA-Enterprise and WPA-Personal</a:t>
            </a:r>
            <a:endParaRPr/>
          </a:p>
          <a:p>
            <a:pPr indent="-306000" lvl="1" marL="630000" rtl="0" algn="l">
              <a:spcBef>
                <a:spcPts val="1000"/>
              </a:spcBef>
              <a:spcAft>
                <a:spcPts val="0"/>
              </a:spcAft>
              <a:buSzPts val="1840"/>
              <a:buChar char="◼"/>
            </a:pPr>
            <a:r>
              <a:rPr lang="en-US"/>
              <a:t>WPA Personal - pre-shared key given to users for access</a:t>
            </a:r>
            <a:endParaRPr/>
          </a:p>
          <a:p>
            <a:pPr indent="-306000" lvl="1" marL="630000" rtl="0" algn="l">
              <a:spcBef>
                <a:spcPts val="1000"/>
              </a:spcBef>
              <a:spcAft>
                <a:spcPts val="0"/>
              </a:spcAft>
              <a:buSzPts val="1840"/>
              <a:buChar char="◼"/>
            </a:pPr>
            <a:r>
              <a:rPr lang="en-US"/>
              <a:t>WPA Enterprise - utilizes authentication server e.g. RADIUS to give unique username and passwords to users</a:t>
            </a:r>
            <a:endParaRPr/>
          </a:p>
          <a:p>
            <a:pPr indent="-306000" lvl="0" marL="306000" rtl="0" algn="l">
              <a:lnSpc>
                <a:spcPct val="110000"/>
              </a:lnSpc>
              <a:spcBef>
                <a:spcPts val="1080"/>
              </a:spcBef>
              <a:spcAft>
                <a:spcPts val="0"/>
              </a:spcAft>
              <a:buSzPts val="2208"/>
              <a:buChar char="◼"/>
            </a:pPr>
            <a:r>
              <a:rPr lang="en-US">
                <a:solidFill>
                  <a:schemeClr val="accent2"/>
                </a:solidFill>
              </a:rPr>
              <a:t>WPA2 (Wi-Fi Protected Access version 2) </a:t>
            </a:r>
            <a:r>
              <a:rPr lang="en-US"/>
              <a:t>– In 2004, introduced improvements to WPA, notably stronger encryption using AES</a:t>
            </a:r>
            <a:endParaRPr/>
          </a:p>
          <a:p>
            <a:pPr indent="-306000" lvl="0" marL="306000" rtl="0" algn="l">
              <a:lnSpc>
                <a:spcPct val="110000"/>
              </a:lnSpc>
              <a:spcBef>
                <a:spcPts val="1080"/>
              </a:spcBef>
              <a:spcAft>
                <a:spcPts val="0"/>
              </a:spcAft>
              <a:buSzPts val="2208"/>
              <a:buChar char="◼"/>
            </a:pPr>
            <a:r>
              <a:rPr lang="en-US">
                <a:solidFill>
                  <a:schemeClr val="accent2"/>
                </a:solidFill>
              </a:rPr>
              <a:t>WPA3</a:t>
            </a:r>
            <a:r>
              <a:rPr lang="en-US"/>
              <a:t> introduced in 2018 gives the highest security and performance</a:t>
            </a:r>
            <a:endParaRPr/>
          </a:p>
        </p:txBody>
      </p:sp>
      <p:sp>
        <p:nvSpPr>
          <p:cNvPr id="207" name="Google Shape;207;p12"/>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208" name="Google Shape;208;p1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3"/>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WIRELESS ENCRYPTION PROTOCOLS</a:t>
            </a:r>
            <a:endParaRPr/>
          </a:p>
        </p:txBody>
      </p:sp>
      <p:sp>
        <p:nvSpPr>
          <p:cNvPr id="214" name="Google Shape;214;p13"/>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165792" lvl="0" marL="306000" rtl="0" algn="l">
              <a:lnSpc>
                <a:spcPct val="110000"/>
              </a:lnSpc>
              <a:spcBef>
                <a:spcPts val="0"/>
              </a:spcBef>
              <a:spcAft>
                <a:spcPts val="0"/>
              </a:spcAft>
              <a:buSzPts val="2208"/>
              <a:buNone/>
            </a:pPr>
            <a:r>
              <a:t/>
            </a:r>
            <a:endParaRPr/>
          </a:p>
        </p:txBody>
      </p:sp>
      <p:sp>
        <p:nvSpPr>
          <p:cNvPr id="215" name="Google Shape;215;p13"/>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216" name="Google Shape;216;p1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WEP vs. WPA vs. WPA2 vs. WPA3 | FS Community" id="217" name="Google Shape;217;p13"/>
          <p:cNvPicPr preferRelativeResize="0"/>
          <p:nvPr/>
        </p:nvPicPr>
        <p:blipFill rotWithShape="1">
          <a:blip r:embed="rId3">
            <a:alphaModFix/>
          </a:blip>
          <a:srcRect b="0" l="0" r="0" t="0"/>
          <a:stretch/>
        </p:blipFill>
        <p:spPr>
          <a:xfrm>
            <a:off x="888581" y="-7498"/>
            <a:ext cx="9669716" cy="686549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4"/>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3600"/>
              <a:buFont typeface="Franklin Gothic"/>
              <a:buNone/>
            </a:pPr>
            <a:r>
              <a:rPr lang="en-US"/>
              <a:t>WIRELESS LAN SECURITY</a:t>
            </a:r>
            <a:endParaRPr/>
          </a:p>
        </p:txBody>
      </p:sp>
      <p:sp>
        <p:nvSpPr>
          <p:cNvPr id="223" name="Google Shape;223;p14"/>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656"/>
              <a:buNone/>
            </a:pPr>
            <a:r>
              <a:t/>
            </a:r>
            <a:endParaRPr/>
          </a:p>
        </p:txBody>
      </p:sp>
      <p:sp>
        <p:nvSpPr>
          <p:cNvPr id="224" name="Google Shape;224;p14"/>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225" name="Google Shape;225;p1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5"/>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THREATS</a:t>
            </a:r>
            <a:endParaRPr/>
          </a:p>
        </p:txBody>
      </p:sp>
      <p:sp>
        <p:nvSpPr>
          <p:cNvPr id="232" name="Google Shape;232;p15"/>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Autofit/>
          </a:bodyPr>
          <a:lstStyle/>
          <a:p>
            <a:pPr indent="-306000" lvl="0" marL="306000" rtl="0" algn="l">
              <a:lnSpc>
                <a:spcPct val="110000"/>
              </a:lnSpc>
              <a:spcBef>
                <a:spcPts val="0"/>
              </a:spcBef>
              <a:spcAft>
                <a:spcPts val="0"/>
              </a:spcAft>
              <a:buSzPts val="1840"/>
              <a:buChar char="◼"/>
            </a:pPr>
            <a:r>
              <a:rPr lang="en-US" sz="2000">
                <a:solidFill>
                  <a:schemeClr val="accent2"/>
                </a:solidFill>
              </a:rPr>
              <a:t>Hidden or Rogue Access Points </a:t>
            </a:r>
            <a:r>
              <a:rPr b="1" lang="en-US" sz="2000"/>
              <a:t>–</a:t>
            </a:r>
            <a:r>
              <a:rPr lang="en-US" sz="2000"/>
              <a:t> a foreign AP that has been connected to the network used by attackers to trick wireless clients to associate with the rogue AP instead of the legitimate one. The rogue AP allows the attacker to capture data and acts as an entry point into the network. Attacker would need physical access to the network to connect the rogue AP. </a:t>
            </a:r>
            <a:endParaRPr/>
          </a:p>
          <a:p>
            <a:pPr indent="-306000" lvl="0" marL="306000" rtl="0" algn="l">
              <a:lnSpc>
                <a:spcPct val="110000"/>
              </a:lnSpc>
              <a:spcBef>
                <a:spcPts val="1000"/>
              </a:spcBef>
              <a:spcAft>
                <a:spcPts val="0"/>
              </a:spcAft>
              <a:buSzPts val="1840"/>
              <a:buChar char="◼"/>
            </a:pPr>
            <a:r>
              <a:rPr lang="en-US" sz="2000">
                <a:solidFill>
                  <a:schemeClr val="accent2"/>
                </a:solidFill>
              </a:rPr>
              <a:t>Honeypot/Evil Twin APs </a:t>
            </a:r>
            <a:r>
              <a:rPr b="1" lang="en-US" sz="2000"/>
              <a:t>–</a:t>
            </a:r>
            <a:r>
              <a:rPr lang="en-US" sz="2000"/>
              <a:t> An Evil Twin AP presents the same SSID as a genuine hotspot or Wi-Fi network, causing nearby wireless clients to connect to them. Certain tools listen to network traffic and discover which SSIDs wireless clients are willing to connect to, and automatically start broadcasting those SSIDs. After a client connects, DHCP and DNS are used to route the client traffic through the Evil Twin, where local malicious Web, mail, and file servers execute man-in-the-middle attacks. </a:t>
            </a:r>
            <a:endParaRPr/>
          </a:p>
          <a:p>
            <a:pPr indent="-306000" lvl="0" marL="306000" rtl="0" algn="l">
              <a:lnSpc>
                <a:spcPct val="110000"/>
              </a:lnSpc>
              <a:spcBef>
                <a:spcPts val="1000"/>
              </a:spcBef>
              <a:spcAft>
                <a:spcPts val="0"/>
              </a:spcAft>
              <a:buSzPts val="1840"/>
              <a:buChar char="◼"/>
            </a:pPr>
            <a:r>
              <a:rPr lang="en-US" sz="2000">
                <a:solidFill>
                  <a:schemeClr val="accent2"/>
                </a:solidFill>
              </a:rPr>
              <a:t>Rogue Clients </a:t>
            </a:r>
            <a:r>
              <a:rPr b="1" lang="en-US" sz="2000"/>
              <a:t>–</a:t>
            </a:r>
            <a:r>
              <a:rPr lang="en-US" sz="2000"/>
              <a:t> A rogue client is a device that is not authorised to operate on the network but is doing so anyway. Any device connected to rogue AP is automatically considered a rogue client. </a:t>
            </a:r>
            <a:endParaRPr/>
          </a:p>
          <a:p>
            <a:pPr indent="-189160" lvl="0" marL="306000" rtl="0" algn="l">
              <a:lnSpc>
                <a:spcPct val="110000"/>
              </a:lnSpc>
              <a:spcBef>
                <a:spcPts val="1000"/>
              </a:spcBef>
              <a:spcAft>
                <a:spcPts val="0"/>
              </a:spcAft>
              <a:buSzPts val="1840"/>
              <a:buNone/>
            </a:pPr>
            <a:r>
              <a:t/>
            </a:r>
            <a:endParaRPr sz="2000"/>
          </a:p>
        </p:txBody>
      </p:sp>
      <p:sp>
        <p:nvSpPr>
          <p:cNvPr id="233" name="Google Shape;233;p15"/>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234" name="Google Shape;234;p1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THREATS</a:t>
            </a:r>
            <a:endParaRPr/>
          </a:p>
        </p:txBody>
      </p:sp>
      <p:sp>
        <p:nvSpPr>
          <p:cNvPr id="241" name="Google Shape;241;p16"/>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Autofit/>
          </a:bodyPr>
          <a:lstStyle/>
          <a:p>
            <a:pPr indent="-306000" lvl="0" marL="306000" rtl="0" algn="l">
              <a:lnSpc>
                <a:spcPct val="110000"/>
              </a:lnSpc>
              <a:spcBef>
                <a:spcPts val="0"/>
              </a:spcBef>
              <a:spcAft>
                <a:spcPts val="0"/>
              </a:spcAft>
              <a:buSzPts val="2208"/>
              <a:buChar char="◼"/>
            </a:pPr>
            <a:r>
              <a:rPr lang="en-US">
                <a:solidFill>
                  <a:schemeClr val="accent2"/>
                </a:solidFill>
              </a:rPr>
              <a:t>Misconfigured APs </a:t>
            </a:r>
            <a:r>
              <a:rPr b="1" lang="en-US"/>
              <a:t>–</a:t>
            </a:r>
            <a:r>
              <a:rPr lang="en-US"/>
              <a:t> APs that are individually managed pose a significant security threat when configured incorrectly. Most enterprise wireless networks are centrally managed, which facilitates regular updates, audits, and improved reliability. Modern Wi-Fi standards such as 802.11n/ac, WPA2/3 Enterprise, PSK, with no WPS (Wi-Fi Protected Setup) add a multitude of settings, not every client supports all these settings, introducing vulnerabilities. </a:t>
            </a:r>
            <a:endParaRPr/>
          </a:p>
          <a:p>
            <a:pPr indent="-306000" lvl="0" marL="306000" rtl="0" algn="l">
              <a:lnSpc>
                <a:spcPct val="110000"/>
              </a:lnSpc>
              <a:spcBef>
                <a:spcPts val="1080"/>
              </a:spcBef>
              <a:spcAft>
                <a:spcPts val="0"/>
              </a:spcAft>
              <a:buSzPts val="2208"/>
              <a:buChar char="◼"/>
            </a:pPr>
            <a:r>
              <a:rPr lang="en-US">
                <a:solidFill>
                  <a:schemeClr val="accent2"/>
                </a:solidFill>
              </a:rPr>
              <a:t>Ad hoc Connections, Internet Connection Sharing and Bridging Clients </a:t>
            </a:r>
            <a:r>
              <a:rPr b="1" lang="en-US"/>
              <a:t>–</a:t>
            </a:r>
            <a:r>
              <a:rPr lang="en-US"/>
              <a:t> When a device shares its Internet connection or allows access to multiple networks simultaneously, it can be used to bypass network and security systems which may result in data loss or provide an attacker with entry into the network. </a:t>
            </a:r>
            <a:endParaRPr/>
          </a:p>
          <a:p>
            <a:pPr indent="-306000" lvl="0" marL="306000" rtl="0" algn="l">
              <a:lnSpc>
                <a:spcPct val="110000"/>
              </a:lnSpc>
              <a:spcBef>
                <a:spcPts val="1080"/>
              </a:spcBef>
              <a:spcAft>
                <a:spcPts val="0"/>
              </a:spcAft>
              <a:buSzPts val="2208"/>
              <a:buChar char="◼"/>
            </a:pPr>
            <a:r>
              <a:rPr lang="en-US"/>
              <a:t>Network </a:t>
            </a:r>
            <a:r>
              <a:rPr lang="en-US">
                <a:solidFill>
                  <a:schemeClr val="accent2"/>
                </a:solidFill>
              </a:rPr>
              <a:t>Jamming</a:t>
            </a:r>
            <a:r>
              <a:rPr lang="en-US"/>
              <a:t> as a Denial of Service attack.</a:t>
            </a:r>
            <a:endParaRPr/>
          </a:p>
          <a:p>
            <a:pPr indent="-165792" lvl="0" marL="306000" rtl="0" algn="l">
              <a:lnSpc>
                <a:spcPct val="110000"/>
              </a:lnSpc>
              <a:spcBef>
                <a:spcPts val="1080"/>
              </a:spcBef>
              <a:spcAft>
                <a:spcPts val="0"/>
              </a:spcAft>
              <a:buSzPts val="2208"/>
              <a:buNone/>
            </a:pPr>
            <a:r>
              <a:t/>
            </a:r>
            <a:endParaRPr/>
          </a:p>
        </p:txBody>
      </p:sp>
      <p:sp>
        <p:nvSpPr>
          <p:cNvPr id="242" name="Google Shape;242;p16"/>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243" name="Google Shape;243;p1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7"/>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THREATS</a:t>
            </a:r>
            <a:endParaRPr/>
          </a:p>
        </p:txBody>
      </p:sp>
      <p:sp>
        <p:nvSpPr>
          <p:cNvPr id="250" name="Google Shape;250;p17"/>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Autofit/>
          </a:bodyPr>
          <a:lstStyle/>
          <a:p>
            <a:pPr indent="-306000" lvl="0" marL="306000" rtl="0" algn="l">
              <a:lnSpc>
                <a:spcPct val="110000"/>
              </a:lnSpc>
              <a:spcBef>
                <a:spcPts val="0"/>
              </a:spcBef>
              <a:spcAft>
                <a:spcPts val="0"/>
              </a:spcAft>
              <a:buSzPts val="2208"/>
              <a:buChar char="◼"/>
            </a:pPr>
            <a:r>
              <a:rPr lang="en-US">
                <a:solidFill>
                  <a:schemeClr val="accent2"/>
                </a:solidFill>
              </a:rPr>
              <a:t>Poor Passwords </a:t>
            </a:r>
            <a:r>
              <a:rPr b="1" lang="en-US"/>
              <a:t>–</a:t>
            </a:r>
            <a:r>
              <a:rPr lang="en-US"/>
              <a:t> attackers can intercept a handshake for an access point and crack it offline using password dictionaries. Simple passwords containing dictionary words, or guessable words can be cracked in seconds. Tools like CeWL and RSMangler can create customized dictionaries  </a:t>
            </a:r>
            <a:endParaRPr/>
          </a:p>
          <a:p>
            <a:pPr indent="-306000" lvl="0" marL="306000" rtl="0" algn="l">
              <a:lnSpc>
                <a:spcPct val="110000"/>
              </a:lnSpc>
              <a:spcBef>
                <a:spcPts val="200"/>
              </a:spcBef>
              <a:spcAft>
                <a:spcPts val="0"/>
              </a:spcAft>
              <a:buSzPts val="2208"/>
              <a:buChar char="◼"/>
            </a:pPr>
            <a:r>
              <a:rPr lang="en-US">
                <a:solidFill>
                  <a:schemeClr val="accent2"/>
                </a:solidFill>
              </a:rPr>
              <a:t>WPS (Wi-Fi Protected Setup) </a:t>
            </a:r>
            <a:r>
              <a:rPr lang="en-US"/>
              <a:t>- is enabled by default. It is designed to simplify setup of Wi-Fi networks. No configuration is necessary—only a PIN code, often written on the outside of the AP, visible to anyone Also, these PINs are weak. An attacker can easily bruteforce.</a:t>
            </a:r>
            <a:endParaRPr/>
          </a:p>
          <a:p>
            <a:pPr indent="-306000" lvl="0" marL="306000" rtl="0" algn="l">
              <a:lnSpc>
                <a:spcPct val="110000"/>
              </a:lnSpc>
              <a:spcBef>
                <a:spcPts val="200"/>
              </a:spcBef>
              <a:spcAft>
                <a:spcPts val="0"/>
              </a:spcAft>
              <a:buSzPts val="2208"/>
              <a:buChar char="◼"/>
            </a:pPr>
            <a:r>
              <a:rPr lang="en-US">
                <a:solidFill>
                  <a:schemeClr val="accent2"/>
                </a:solidFill>
              </a:rPr>
              <a:t>Excessive Network Coverage </a:t>
            </a:r>
            <a:r>
              <a:rPr lang="en-US"/>
              <a:t>-  If there are no restrictions on signal strength, access to wireless networks can be achieved from a neighboring building or public parking lot. Attackers can then conduct various attacks on the LAN from outside the restricted area, without being detected.</a:t>
            </a:r>
            <a:endParaRPr/>
          </a:p>
        </p:txBody>
      </p:sp>
      <p:sp>
        <p:nvSpPr>
          <p:cNvPr id="251" name="Google Shape;251;p1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252" name="Google Shape;252;p1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8"/>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t/>
            </a:r>
            <a:endParaRPr/>
          </a:p>
        </p:txBody>
      </p:sp>
      <p:sp>
        <p:nvSpPr>
          <p:cNvPr id="259" name="Google Shape;259;p18"/>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165792" lvl="0" marL="306000" rtl="0" algn="l">
              <a:lnSpc>
                <a:spcPct val="110000"/>
              </a:lnSpc>
              <a:spcBef>
                <a:spcPts val="0"/>
              </a:spcBef>
              <a:spcAft>
                <a:spcPts val="0"/>
              </a:spcAft>
              <a:buSzPts val="2208"/>
              <a:buNone/>
            </a:pPr>
            <a:r>
              <a:t/>
            </a:r>
            <a:endParaRPr/>
          </a:p>
        </p:txBody>
      </p:sp>
      <p:sp>
        <p:nvSpPr>
          <p:cNvPr id="260" name="Google Shape;260;p1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261" name="Google Shape;261;p1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Wifi Heat Map Software &amp; Tools for Site Surveying &amp; Troubleshooting Wireless !" id="262" name="Google Shape;262;p18"/>
          <p:cNvPicPr preferRelativeResize="0"/>
          <p:nvPr/>
        </p:nvPicPr>
        <p:blipFill rotWithShape="1">
          <a:blip r:embed="rId3">
            <a:alphaModFix/>
          </a:blip>
          <a:srcRect b="0" l="0" r="0" t="0"/>
          <a:stretch/>
        </p:blipFill>
        <p:spPr>
          <a:xfrm>
            <a:off x="385011" y="117850"/>
            <a:ext cx="8981096" cy="6306064"/>
          </a:xfrm>
          <a:prstGeom prst="rect">
            <a:avLst/>
          </a:prstGeom>
          <a:noFill/>
          <a:ln>
            <a:noFill/>
          </a:ln>
        </p:spPr>
      </p:pic>
      <p:pic>
        <p:nvPicPr>
          <p:cNvPr descr="Russian Wi-Fi Hacking – Evil Twin attacks EXPLAINED - Secplicity - Security  Simplified" id="263" name="Google Shape;263;p18"/>
          <p:cNvPicPr preferRelativeResize="0"/>
          <p:nvPr/>
        </p:nvPicPr>
        <p:blipFill rotWithShape="1">
          <a:blip r:embed="rId4">
            <a:alphaModFix/>
          </a:blip>
          <a:srcRect b="0" l="0" r="0" t="0"/>
          <a:stretch/>
        </p:blipFill>
        <p:spPr>
          <a:xfrm>
            <a:off x="5705307" y="2947289"/>
            <a:ext cx="5905500" cy="3476625"/>
          </a:xfrm>
          <a:prstGeom prst="rect">
            <a:avLst/>
          </a:prstGeom>
          <a:noFill/>
          <a:ln>
            <a:noFill/>
          </a:ln>
        </p:spPr>
      </p:pic>
      <p:sp>
        <p:nvSpPr>
          <p:cNvPr id="264" name="Google Shape;264;p18"/>
          <p:cNvSpPr txBox="1"/>
          <p:nvPr/>
        </p:nvSpPr>
        <p:spPr>
          <a:xfrm>
            <a:off x="7687855" y="6284195"/>
            <a:ext cx="19404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Libre Franklin"/>
                <a:ea typeface="Libre Franklin"/>
                <a:cs typeface="Libre Franklin"/>
                <a:sym typeface="Libre Franklin"/>
              </a:rPr>
              <a:t>Parking Lot Attack</a:t>
            </a:r>
            <a:endParaRPr b="1" sz="1800">
              <a:solidFill>
                <a:schemeClr val="dk1"/>
              </a:solidFill>
              <a:latin typeface="Libre Franklin"/>
              <a:ea typeface="Libre Franklin"/>
              <a:cs typeface="Libre Franklin"/>
              <a:sym typeface="Libre Franklin"/>
            </a:endParaRPr>
          </a:p>
        </p:txBody>
      </p:sp>
      <p:sp>
        <p:nvSpPr>
          <p:cNvPr id="265" name="Google Shape;265;p18"/>
          <p:cNvSpPr txBox="1"/>
          <p:nvPr/>
        </p:nvSpPr>
        <p:spPr>
          <a:xfrm>
            <a:off x="3159897" y="152365"/>
            <a:ext cx="34313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Libre Franklin"/>
                <a:ea typeface="Libre Franklin"/>
                <a:cs typeface="Libre Franklin"/>
                <a:sym typeface="Libre Franklin"/>
              </a:rPr>
              <a:t>Signal Management and Tracking</a:t>
            </a:r>
            <a:endParaRPr b="1" sz="1800">
              <a:solidFill>
                <a:schemeClr val="dk1"/>
              </a:solidFill>
              <a:latin typeface="Libre Franklin"/>
              <a:ea typeface="Libre Franklin"/>
              <a:cs typeface="Libre Franklin"/>
              <a:sym typeface="Libre Frankli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9"/>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BLUETOOTH ATTACKS</a:t>
            </a:r>
            <a:endParaRPr/>
          </a:p>
        </p:txBody>
      </p:sp>
      <p:sp>
        <p:nvSpPr>
          <p:cNvPr id="272" name="Google Shape;272;p19"/>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lnSpcReduction="10000"/>
          </a:bodyPr>
          <a:lstStyle/>
          <a:p>
            <a:pPr indent="-306000" lvl="0" marL="306000" rtl="0" algn="l">
              <a:lnSpc>
                <a:spcPct val="110000"/>
              </a:lnSpc>
              <a:spcBef>
                <a:spcPts val="0"/>
              </a:spcBef>
              <a:spcAft>
                <a:spcPts val="0"/>
              </a:spcAft>
              <a:buSzPts val="2208"/>
              <a:buChar char="◼"/>
            </a:pPr>
            <a:r>
              <a:rPr lang="en-US">
                <a:solidFill>
                  <a:schemeClr val="accent2"/>
                </a:solidFill>
              </a:rPr>
              <a:t>BlueSmacking</a:t>
            </a:r>
            <a:r>
              <a:rPr lang="en-US"/>
              <a:t> is a DoS attack for Bluetooth devices.</a:t>
            </a:r>
            <a:endParaRPr/>
          </a:p>
          <a:p>
            <a:pPr indent="-306000" lvl="0" marL="306000" rtl="0" algn="l">
              <a:lnSpc>
                <a:spcPct val="110000"/>
              </a:lnSpc>
              <a:spcBef>
                <a:spcPts val="1080"/>
              </a:spcBef>
              <a:spcAft>
                <a:spcPts val="0"/>
              </a:spcAft>
              <a:buSzPts val="2208"/>
              <a:buChar char="◼"/>
            </a:pPr>
            <a:r>
              <a:rPr lang="en-US">
                <a:solidFill>
                  <a:schemeClr val="accent2"/>
                </a:solidFill>
              </a:rPr>
              <a:t>BlueJacking</a:t>
            </a:r>
            <a:r>
              <a:rPr lang="en-US"/>
              <a:t> –resembles the spam and phishing attacks seen with email sending unsolicited messages to the device. While the messages themselves do not directly cause harm to the user’s device, they may tempt the user to interact in some way or add the new contact to their address book. Bluejacking can be harmful when a user initiates a response to a Bluejacking message sent with malicious intent. </a:t>
            </a:r>
            <a:endParaRPr/>
          </a:p>
          <a:p>
            <a:pPr indent="-306000" lvl="0" marL="306000" rtl="0" algn="l">
              <a:lnSpc>
                <a:spcPct val="110000"/>
              </a:lnSpc>
              <a:spcBef>
                <a:spcPts val="1080"/>
              </a:spcBef>
              <a:spcAft>
                <a:spcPts val="0"/>
              </a:spcAft>
              <a:buSzPts val="2208"/>
              <a:buChar char="◼"/>
            </a:pPr>
            <a:r>
              <a:rPr lang="en-US">
                <a:solidFill>
                  <a:schemeClr val="accent2"/>
                </a:solidFill>
              </a:rPr>
              <a:t>BlueSnarfing</a:t>
            </a:r>
            <a:r>
              <a:rPr lang="en-US"/>
              <a:t> –enables an attacker to gain access to a Bluetooth device by exploiting a firmware vulnerability in older devices. This attack forces a connection to a device, allowing the attacker access to data stored locally on the device including the device’s IMEI. This is a unique identifier that could potentially be used to route incoming traffic from the user’s device to the attacker’s device.</a:t>
            </a:r>
            <a:endParaRPr/>
          </a:p>
        </p:txBody>
      </p:sp>
      <p:sp>
        <p:nvSpPr>
          <p:cNvPr id="273" name="Google Shape;273;p1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274" name="Google Shape;274;p1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0"/>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BLUETOOTH ATTACKS</a:t>
            </a:r>
            <a:endParaRPr/>
          </a:p>
        </p:txBody>
      </p:sp>
      <p:sp>
        <p:nvSpPr>
          <p:cNvPr id="281" name="Google Shape;281;p20"/>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solidFill>
                  <a:schemeClr val="accent2"/>
                </a:solidFill>
              </a:rPr>
              <a:t>BlueBugging</a:t>
            </a:r>
            <a:r>
              <a:rPr lang="en-US"/>
              <a:t> – exploits a vulnerability in the firmware of some older Bluetooth devices to gain access to the device and its commands. Attackers can </a:t>
            </a:r>
            <a:r>
              <a:rPr b="1" lang="en-US"/>
              <a:t>spy on your activity, access your sensitive information</a:t>
            </a:r>
            <a:r>
              <a:rPr lang="en-US"/>
              <a:t>, and even </a:t>
            </a:r>
            <a:r>
              <a:rPr b="1" lang="en-US"/>
              <a:t>use your device to impersonate you</a:t>
            </a:r>
            <a:r>
              <a:rPr lang="en-US"/>
              <a:t> on any apps on your device, including the apps you use for online banking.</a:t>
            </a:r>
            <a:endParaRPr/>
          </a:p>
          <a:p>
            <a:pPr indent="-306000" lvl="0" marL="306000" rtl="0" algn="l">
              <a:lnSpc>
                <a:spcPct val="110000"/>
              </a:lnSpc>
              <a:spcBef>
                <a:spcPts val="1080"/>
              </a:spcBef>
              <a:spcAft>
                <a:spcPts val="0"/>
              </a:spcAft>
              <a:buSzPts val="2208"/>
              <a:buChar char="◼"/>
            </a:pPr>
            <a:r>
              <a:rPr lang="en-US">
                <a:solidFill>
                  <a:schemeClr val="accent2"/>
                </a:solidFill>
              </a:rPr>
              <a:t>BlueBorne</a:t>
            </a:r>
            <a:r>
              <a:rPr lang="en-US"/>
              <a:t> - a severe vulnerability that allows hackers to take control of multiple devices within the Bluetooth range without any user interaction. It affects various operating systems, including Android, iOS, Windows, and Linux. It takes advantage of the way devices automatically connect to each other and propagates malware across different devices.</a:t>
            </a:r>
            <a:endParaRPr/>
          </a:p>
        </p:txBody>
      </p:sp>
      <p:sp>
        <p:nvSpPr>
          <p:cNvPr id="282" name="Google Shape;282;p20"/>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283" name="Google Shape;283;p2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1"/>
          <p:cNvSpPr txBox="1"/>
          <p:nvPr>
            <p:ph type="ctrTitle"/>
          </p:nvPr>
        </p:nvSpPr>
        <p:spPr>
          <a:xfrm>
            <a:off x="581191" y="1020431"/>
            <a:ext cx="10993549" cy="1894219"/>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3600"/>
              <a:buFont typeface="Franklin Gothic"/>
              <a:buNone/>
            </a:pPr>
            <a:r>
              <a:rPr lang="en-US"/>
              <a:t>DATABASE SECURITY ASSESSMENT</a:t>
            </a:r>
            <a:endParaRPr/>
          </a:p>
        </p:txBody>
      </p:sp>
      <p:sp>
        <p:nvSpPr>
          <p:cNvPr id="290" name="Google Shape;290;p21"/>
          <p:cNvSpPr txBox="1"/>
          <p:nvPr>
            <p:ph idx="1" type="subTitle"/>
          </p:nvPr>
        </p:nvSpPr>
        <p:spPr>
          <a:xfrm>
            <a:off x="617264" y="3395558"/>
            <a:ext cx="10993546" cy="2058758"/>
          </a:xfrm>
          <a:prstGeom prst="rect">
            <a:avLst/>
          </a:prstGeom>
          <a:noFill/>
          <a:ln>
            <a:noFill/>
          </a:ln>
        </p:spPr>
        <p:txBody>
          <a:bodyPr anchorCtr="0" anchor="t" bIns="45700" lIns="91425" spcFirstLastPara="1" rIns="91425" wrap="square" tIns="45700">
            <a:normAutofit/>
          </a:bodyPr>
          <a:lstStyle/>
          <a:p>
            <a:pPr indent="-342900" lvl="0" marL="342900" rtl="0" algn="l">
              <a:lnSpc>
                <a:spcPct val="110000"/>
              </a:lnSpc>
              <a:spcBef>
                <a:spcPts val="0"/>
              </a:spcBef>
              <a:spcAft>
                <a:spcPts val="0"/>
              </a:spcAft>
              <a:buClr>
                <a:schemeClr val="lt1"/>
              </a:buClr>
              <a:buSzPts val="2208"/>
              <a:buFont typeface="Noto Sans Symbols"/>
              <a:buChar char="❑"/>
            </a:pPr>
            <a:r>
              <a:rPr lang="en-US" sz="2400" cap="none">
                <a:solidFill>
                  <a:schemeClr val="lt1"/>
                </a:solidFill>
              </a:rPr>
              <a:t>In this section we assess Wi-Fi security using aircrack-ng suite of tools </a:t>
            </a:r>
            <a:r>
              <a:rPr lang="en-US" sz="2400" u="sng" cap="none">
                <a:solidFill>
                  <a:schemeClr val="lt1"/>
                </a:solidFill>
                <a:hlinkClick r:id="rId3">
                  <a:extLst>
                    <a:ext uri="{A12FA001-AC4F-418D-AE19-62706E023703}">
                      <ahyp:hlinkClr val="tx"/>
                    </a:ext>
                  </a:extLst>
                </a:hlinkClick>
              </a:rPr>
              <a:t>https://academy.hackthebox.com/</a:t>
            </a:r>
            <a:endParaRPr sz="2400" cap="none">
              <a:solidFill>
                <a:schemeClr val="lt1"/>
              </a:solidFill>
            </a:endParaRPr>
          </a:p>
        </p:txBody>
      </p:sp>
      <p:sp>
        <p:nvSpPr>
          <p:cNvPr id="291" name="Google Shape;291;p2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292" name="Google Shape;292;p2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2"/>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ASSESSMENT STEPS</a:t>
            </a:r>
            <a:endParaRPr/>
          </a:p>
        </p:txBody>
      </p:sp>
      <p:sp>
        <p:nvSpPr>
          <p:cNvPr id="298" name="Google Shape;298;p22"/>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299" name="Google Shape;299;p2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300" name="Google Shape;300;p22"/>
          <p:cNvGrpSpPr/>
          <p:nvPr/>
        </p:nvGrpSpPr>
        <p:grpSpPr>
          <a:xfrm>
            <a:off x="584256" y="1443038"/>
            <a:ext cx="11023153" cy="4981575"/>
            <a:chOff x="3231" y="0"/>
            <a:chExt cx="11023153" cy="4981575"/>
          </a:xfrm>
        </p:grpSpPr>
        <p:sp>
          <p:nvSpPr>
            <p:cNvPr id="301" name="Google Shape;301;p22"/>
            <p:cNvSpPr/>
            <p:nvPr/>
          </p:nvSpPr>
          <p:spPr>
            <a:xfrm>
              <a:off x="827221" y="0"/>
              <a:ext cx="9375173" cy="4981575"/>
            </a:xfrm>
            <a:prstGeom prst="rightArrow">
              <a:avLst>
                <a:gd fmla="val 50000" name="adj1"/>
                <a:gd fmla="val 50000" name="adj2"/>
              </a:avLst>
            </a:prstGeom>
            <a:solidFill>
              <a:srgbClr val="CBD8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2"/>
            <p:cNvSpPr/>
            <p:nvPr/>
          </p:nvSpPr>
          <p:spPr>
            <a:xfrm>
              <a:off x="3231" y="1494472"/>
              <a:ext cx="1945262" cy="1992630"/>
            </a:xfrm>
            <a:prstGeom prst="roundRect">
              <a:avLst>
                <a:gd fmla="val 16667" name="adj"/>
              </a:avLst>
            </a:prstGeom>
            <a:solidFill>
              <a:srgbClr val="2383C6"/>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2"/>
            <p:cNvSpPr txBox="1"/>
            <p:nvPr/>
          </p:nvSpPr>
          <p:spPr>
            <a:xfrm>
              <a:off x="98191" y="1589432"/>
              <a:ext cx="1755342" cy="180271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Libre Franklin"/>
                <a:buNone/>
              </a:pPr>
              <a:r>
                <a:rPr lang="en-US" sz="2000">
                  <a:solidFill>
                    <a:schemeClr val="lt1"/>
                  </a:solidFill>
                  <a:latin typeface="Libre Franklin"/>
                  <a:ea typeface="Libre Franklin"/>
                  <a:cs typeface="Libre Franklin"/>
                  <a:sym typeface="Libre Franklin"/>
                </a:rPr>
                <a:t>Configure Wi-Fi adapter</a:t>
              </a:r>
              <a:endParaRPr sz="2000">
                <a:solidFill>
                  <a:schemeClr val="lt1"/>
                </a:solidFill>
                <a:latin typeface="Libre Franklin"/>
                <a:ea typeface="Libre Franklin"/>
                <a:cs typeface="Libre Franklin"/>
                <a:sym typeface="Libre Franklin"/>
              </a:endParaRPr>
            </a:p>
          </p:txBody>
        </p:sp>
        <p:sp>
          <p:nvSpPr>
            <p:cNvPr id="304" name="Google Shape;304;p22"/>
            <p:cNvSpPr/>
            <p:nvPr/>
          </p:nvSpPr>
          <p:spPr>
            <a:xfrm>
              <a:off x="2272704" y="1494472"/>
              <a:ext cx="1945262" cy="1992630"/>
            </a:xfrm>
            <a:prstGeom prst="roundRect">
              <a:avLst>
                <a:gd fmla="val 16667" name="adj"/>
              </a:avLst>
            </a:prstGeom>
            <a:solidFill>
              <a:srgbClr val="24CED7"/>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
            <p:cNvSpPr txBox="1"/>
            <p:nvPr/>
          </p:nvSpPr>
          <p:spPr>
            <a:xfrm>
              <a:off x="2367664" y="1589432"/>
              <a:ext cx="1755342" cy="180271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Libre Franklin"/>
                <a:buNone/>
              </a:pPr>
              <a:r>
                <a:rPr lang="en-US" sz="2000">
                  <a:solidFill>
                    <a:schemeClr val="lt1"/>
                  </a:solidFill>
                  <a:latin typeface="Libre Franklin"/>
                  <a:ea typeface="Libre Franklin"/>
                  <a:cs typeface="Libre Franklin"/>
                  <a:sym typeface="Libre Franklin"/>
                </a:rPr>
                <a:t>Gather Access Point Information</a:t>
              </a:r>
              <a:endParaRPr sz="2000">
                <a:solidFill>
                  <a:schemeClr val="lt1"/>
                </a:solidFill>
                <a:latin typeface="Libre Franklin"/>
                <a:ea typeface="Libre Franklin"/>
                <a:cs typeface="Libre Franklin"/>
                <a:sym typeface="Libre Franklin"/>
              </a:endParaRPr>
            </a:p>
          </p:txBody>
        </p:sp>
        <p:sp>
          <p:nvSpPr>
            <p:cNvPr id="306" name="Google Shape;306;p22"/>
            <p:cNvSpPr/>
            <p:nvPr/>
          </p:nvSpPr>
          <p:spPr>
            <a:xfrm>
              <a:off x="4542176" y="1494472"/>
              <a:ext cx="1945262" cy="1992630"/>
            </a:xfrm>
            <a:prstGeom prst="roundRect">
              <a:avLst>
                <a:gd fmla="val 16667" name="adj"/>
              </a:avLst>
            </a:prstGeom>
            <a:solidFill>
              <a:schemeClr val="accent4"/>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2"/>
            <p:cNvSpPr txBox="1"/>
            <p:nvPr/>
          </p:nvSpPr>
          <p:spPr>
            <a:xfrm>
              <a:off x="4637136" y="1589432"/>
              <a:ext cx="1755342" cy="180271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Libre Franklin"/>
                <a:buNone/>
              </a:pPr>
              <a:r>
                <a:rPr lang="en-US" sz="2000">
                  <a:solidFill>
                    <a:schemeClr val="lt1"/>
                  </a:solidFill>
                  <a:latin typeface="Libre Franklin"/>
                  <a:ea typeface="Libre Franklin"/>
                  <a:cs typeface="Libre Franklin"/>
                  <a:sym typeface="Libre Franklin"/>
                </a:rPr>
                <a:t>De-authenticate Client</a:t>
              </a:r>
              <a:endParaRPr sz="2000">
                <a:solidFill>
                  <a:schemeClr val="lt1"/>
                </a:solidFill>
                <a:latin typeface="Libre Franklin"/>
                <a:ea typeface="Libre Franklin"/>
                <a:cs typeface="Libre Franklin"/>
                <a:sym typeface="Libre Franklin"/>
              </a:endParaRPr>
            </a:p>
          </p:txBody>
        </p:sp>
        <p:sp>
          <p:nvSpPr>
            <p:cNvPr id="308" name="Google Shape;308;p22"/>
            <p:cNvSpPr/>
            <p:nvPr/>
          </p:nvSpPr>
          <p:spPr>
            <a:xfrm>
              <a:off x="6811649" y="1494472"/>
              <a:ext cx="1945262" cy="1992630"/>
            </a:xfrm>
            <a:prstGeom prst="roundRect">
              <a:avLst>
                <a:gd fmla="val 16667" name="adj"/>
              </a:avLst>
            </a:prstGeom>
            <a:solidFill>
              <a:srgbClr val="3B8850"/>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txBox="1"/>
            <p:nvPr/>
          </p:nvSpPr>
          <p:spPr>
            <a:xfrm>
              <a:off x="6906609" y="1589432"/>
              <a:ext cx="1755342" cy="180271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Libre Franklin"/>
                <a:buNone/>
              </a:pPr>
              <a:r>
                <a:rPr lang="en-US" sz="2000">
                  <a:solidFill>
                    <a:schemeClr val="lt1"/>
                  </a:solidFill>
                  <a:latin typeface="Libre Franklin"/>
                  <a:ea typeface="Libre Franklin"/>
                  <a:cs typeface="Libre Franklin"/>
                  <a:sym typeface="Libre Franklin"/>
                </a:rPr>
                <a:t>Capture 4-Way Handshake</a:t>
              </a:r>
              <a:endParaRPr sz="2000">
                <a:solidFill>
                  <a:schemeClr val="lt1"/>
                </a:solidFill>
                <a:latin typeface="Libre Franklin"/>
                <a:ea typeface="Libre Franklin"/>
                <a:cs typeface="Libre Franklin"/>
                <a:sym typeface="Libre Franklin"/>
              </a:endParaRPr>
            </a:p>
          </p:txBody>
        </p:sp>
        <p:sp>
          <p:nvSpPr>
            <p:cNvPr id="310" name="Google Shape;310;p22"/>
            <p:cNvSpPr/>
            <p:nvPr/>
          </p:nvSpPr>
          <p:spPr>
            <a:xfrm>
              <a:off x="9081122" y="1494472"/>
              <a:ext cx="1945262" cy="1992630"/>
            </a:xfrm>
            <a:prstGeom prst="roundRect">
              <a:avLst>
                <a:gd fmla="val 16667" name="adj"/>
              </a:avLst>
            </a:prstGeom>
            <a:solidFill>
              <a:srgbClr val="61A39F"/>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txBox="1"/>
            <p:nvPr/>
          </p:nvSpPr>
          <p:spPr>
            <a:xfrm>
              <a:off x="9176082" y="1589432"/>
              <a:ext cx="1755342" cy="180271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Libre Franklin"/>
                <a:buNone/>
              </a:pPr>
              <a:r>
                <a:rPr lang="en-US" sz="2000">
                  <a:solidFill>
                    <a:schemeClr val="lt1"/>
                  </a:solidFill>
                  <a:latin typeface="Libre Franklin"/>
                  <a:ea typeface="Libre Franklin"/>
                  <a:cs typeface="Libre Franklin"/>
                  <a:sym typeface="Libre Franklin"/>
                </a:rPr>
                <a:t>Brute-Force Password</a:t>
              </a:r>
              <a:endParaRPr sz="2000">
                <a:solidFill>
                  <a:schemeClr val="lt1"/>
                </a:solidFill>
                <a:latin typeface="Libre Franklin"/>
                <a:ea typeface="Libre Franklin"/>
                <a:cs typeface="Libre Franklin"/>
                <a:sym typeface="Libre Franklin"/>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3"/>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AIRCRACK-NG SUITE</a:t>
            </a:r>
            <a:endParaRPr/>
          </a:p>
        </p:txBody>
      </p:sp>
      <p:sp>
        <p:nvSpPr>
          <p:cNvPr id="317" name="Google Shape;317;p23"/>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t>Aircrack-NG is like a Swiss Army knife for WiFi security. </a:t>
            </a:r>
            <a:endParaRPr/>
          </a:p>
          <a:p>
            <a:pPr indent="-306000" lvl="0" marL="306000" rtl="0" algn="l">
              <a:lnSpc>
                <a:spcPct val="110000"/>
              </a:lnSpc>
              <a:spcBef>
                <a:spcPts val="1080"/>
              </a:spcBef>
              <a:spcAft>
                <a:spcPts val="0"/>
              </a:spcAft>
              <a:buSzPts val="2208"/>
              <a:buChar char="◼"/>
            </a:pPr>
            <a:r>
              <a:rPr lang="en-US"/>
              <a:t>Available </a:t>
            </a:r>
            <a:r>
              <a:rPr lang="en-US" u="sng">
                <a:solidFill>
                  <a:schemeClr val="hlink"/>
                </a:solidFill>
                <a:hlinkClick r:id="rId3"/>
              </a:rPr>
              <a:t>https://github.com/aircrack-ng/aircrack-ng</a:t>
            </a:r>
            <a:endParaRPr/>
          </a:p>
          <a:p>
            <a:pPr indent="0" lvl="0" marL="0" rtl="0" algn="l">
              <a:lnSpc>
                <a:spcPct val="110000"/>
              </a:lnSpc>
              <a:spcBef>
                <a:spcPts val="1080"/>
              </a:spcBef>
              <a:spcAft>
                <a:spcPts val="0"/>
              </a:spcAft>
              <a:buSzPts val="2208"/>
              <a:buNone/>
            </a:pPr>
            <a:r>
              <a:rPr lang="en-US"/>
              <a:t>Consists variety of tools including:</a:t>
            </a:r>
            <a:endParaRPr/>
          </a:p>
          <a:p>
            <a:pPr indent="-306000" lvl="0" marL="306000" rtl="0" algn="l">
              <a:lnSpc>
                <a:spcPct val="110000"/>
              </a:lnSpc>
              <a:spcBef>
                <a:spcPts val="1080"/>
              </a:spcBef>
              <a:spcAft>
                <a:spcPts val="0"/>
              </a:spcAft>
              <a:buSzPts val="2208"/>
              <a:buChar char="◼"/>
            </a:pPr>
            <a:r>
              <a:rPr lang="en-US">
                <a:solidFill>
                  <a:schemeClr val="accent2"/>
                </a:solidFill>
              </a:rPr>
              <a:t>Airmon-ng: </a:t>
            </a:r>
            <a:r>
              <a:rPr lang="en-US"/>
              <a:t>Sets wireless NIC into monitor mode which facilitates the capture of network packets without the need for authentication with access point.</a:t>
            </a:r>
            <a:endParaRPr/>
          </a:p>
          <a:p>
            <a:pPr indent="-306000" lvl="0" marL="306000" rtl="0" algn="l">
              <a:lnSpc>
                <a:spcPct val="110000"/>
              </a:lnSpc>
              <a:spcBef>
                <a:spcPts val="1080"/>
              </a:spcBef>
              <a:spcAft>
                <a:spcPts val="0"/>
              </a:spcAft>
              <a:buSzPts val="2208"/>
              <a:buChar char="◼"/>
            </a:pPr>
            <a:r>
              <a:rPr lang="en-US">
                <a:solidFill>
                  <a:schemeClr val="accent2"/>
                </a:solidFill>
              </a:rPr>
              <a:t>Airodump-ng: </a:t>
            </a:r>
            <a:r>
              <a:rPr lang="en-US"/>
              <a:t>packet capture utility, recording and storing raw data packets for subsequent analysis. Can fetch coordinates if a GPS is connected for mapping</a:t>
            </a:r>
            <a:endParaRPr/>
          </a:p>
          <a:p>
            <a:pPr indent="-306000" lvl="0" marL="306000" rtl="0" algn="l">
              <a:lnSpc>
                <a:spcPct val="110000"/>
              </a:lnSpc>
              <a:spcBef>
                <a:spcPts val="1080"/>
              </a:spcBef>
              <a:spcAft>
                <a:spcPts val="0"/>
              </a:spcAft>
              <a:buSzPts val="2208"/>
              <a:buChar char="◼"/>
            </a:pPr>
            <a:r>
              <a:rPr lang="en-US">
                <a:solidFill>
                  <a:schemeClr val="accent2"/>
                </a:solidFill>
              </a:rPr>
              <a:t>Aircrack-NG: </a:t>
            </a:r>
            <a:r>
              <a:rPr lang="en-US"/>
              <a:t>once sufficient packets are captured using Airodump-ng. It employs statistical, brute force, and dictionary attacks to decrypt WEP/WPA keys</a:t>
            </a:r>
            <a:endParaRPr/>
          </a:p>
          <a:p>
            <a:pPr indent="0" lvl="0" marL="0" rtl="0" algn="l">
              <a:lnSpc>
                <a:spcPct val="110000"/>
              </a:lnSpc>
              <a:spcBef>
                <a:spcPts val="1080"/>
              </a:spcBef>
              <a:spcAft>
                <a:spcPts val="0"/>
              </a:spcAft>
              <a:buSzPts val="2208"/>
              <a:buNone/>
            </a:pPr>
            <a:r>
              <a:t/>
            </a:r>
            <a:endParaRPr/>
          </a:p>
        </p:txBody>
      </p:sp>
      <p:sp>
        <p:nvSpPr>
          <p:cNvPr id="318" name="Google Shape;318;p23"/>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19" name="Google Shape;319;p2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4"/>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AIRCRACK-NG SUITE</a:t>
            </a:r>
            <a:endParaRPr/>
          </a:p>
        </p:txBody>
      </p:sp>
      <p:sp>
        <p:nvSpPr>
          <p:cNvPr id="325" name="Google Shape;325;p24"/>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solidFill>
                  <a:schemeClr val="accent2"/>
                </a:solidFill>
              </a:rPr>
              <a:t>Aireplay-ng: </a:t>
            </a:r>
            <a:r>
              <a:rPr lang="en-US"/>
              <a:t>introduces artificial traffic to wireless networks, either by capturing live traffic or injecting packets from an existing file. Can fake authentication, packet injection, and the caffe-latte attack.</a:t>
            </a:r>
            <a:endParaRPr/>
          </a:p>
          <a:p>
            <a:pPr indent="-306000" lvl="0" marL="306000" rtl="0" algn="l">
              <a:lnSpc>
                <a:spcPct val="110000"/>
              </a:lnSpc>
              <a:spcBef>
                <a:spcPts val="1080"/>
              </a:spcBef>
              <a:spcAft>
                <a:spcPts val="0"/>
              </a:spcAft>
              <a:buSzPts val="2208"/>
              <a:buChar char="◼"/>
            </a:pPr>
            <a:r>
              <a:rPr lang="en-US">
                <a:solidFill>
                  <a:schemeClr val="accent2"/>
                </a:solidFill>
              </a:rPr>
              <a:t>Airbase-ng: </a:t>
            </a:r>
            <a:r>
              <a:rPr lang="en-US"/>
              <a:t>transforms an attacker’s computer into a rogue access point. This tool enables the simulation of a legitimate access point, paving the way for man-in-the-middle attacks on connected devices.</a:t>
            </a:r>
            <a:endParaRPr/>
          </a:p>
          <a:p>
            <a:pPr indent="-165792" lvl="0" marL="306000" rtl="0" algn="l">
              <a:lnSpc>
                <a:spcPct val="110000"/>
              </a:lnSpc>
              <a:spcBef>
                <a:spcPts val="1080"/>
              </a:spcBef>
              <a:spcAft>
                <a:spcPts val="0"/>
              </a:spcAft>
              <a:buSzPts val="2208"/>
              <a:buNone/>
            </a:pPr>
            <a:r>
              <a:t/>
            </a:r>
            <a:endParaRPr/>
          </a:p>
        </p:txBody>
      </p:sp>
      <p:sp>
        <p:nvSpPr>
          <p:cNvPr id="326" name="Google Shape;326;p24"/>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27" name="Google Shape;327;p2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5"/>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ASSESSMENT</a:t>
            </a:r>
            <a:endParaRPr/>
          </a:p>
        </p:txBody>
      </p:sp>
      <p:sp>
        <p:nvSpPr>
          <p:cNvPr id="333" name="Google Shape;333;p25"/>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165792" lvl="0" marL="306000" rtl="0" algn="l">
              <a:lnSpc>
                <a:spcPct val="110000"/>
              </a:lnSpc>
              <a:spcBef>
                <a:spcPts val="0"/>
              </a:spcBef>
              <a:spcAft>
                <a:spcPts val="0"/>
              </a:spcAft>
              <a:buSzPts val="2208"/>
              <a:buNone/>
            </a:pPr>
            <a:r>
              <a:t/>
            </a:r>
            <a:endParaRPr/>
          </a:p>
        </p:txBody>
      </p:sp>
      <p:sp>
        <p:nvSpPr>
          <p:cNvPr id="334" name="Google Shape;334;p25"/>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35" name="Google Shape;335;p2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screenshot displaying the output of the iwconfig command in a terminal, showing two wireless interfaces, wlan0 and wlan1, both in 'Managed' mode and not associated with any access point." id="336" name="Google Shape;336;p25"/>
          <p:cNvPicPr preferRelativeResize="0"/>
          <p:nvPr/>
        </p:nvPicPr>
        <p:blipFill rotWithShape="1">
          <a:blip r:embed="rId3">
            <a:alphaModFix/>
          </a:blip>
          <a:srcRect b="0" l="0" r="0" t="0"/>
          <a:stretch/>
        </p:blipFill>
        <p:spPr>
          <a:xfrm>
            <a:off x="1604800" y="1523288"/>
            <a:ext cx="8953500" cy="4819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6"/>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ASSESSMENT</a:t>
            </a:r>
            <a:endParaRPr/>
          </a:p>
        </p:txBody>
      </p:sp>
      <p:sp>
        <p:nvSpPr>
          <p:cNvPr id="342" name="Google Shape;342;p26"/>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165792" lvl="0" marL="306000" rtl="0" algn="l">
              <a:lnSpc>
                <a:spcPct val="110000"/>
              </a:lnSpc>
              <a:spcBef>
                <a:spcPts val="0"/>
              </a:spcBef>
              <a:spcAft>
                <a:spcPts val="0"/>
              </a:spcAft>
              <a:buSzPts val="2208"/>
              <a:buNone/>
            </a:pPr>
            <a:r>
              <a:t/>
            </a:r>
            <a:endParaRPr/>
          </a:p>
        </p:txBody>
      </p:sp>
      <p:sp>
        <p:nvSpPr>
          <p:cNvPr id="343" name="Google Shape;343;p26"/>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44" name="Google Shape;344;p26"/>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screenshot of a terminal window where the airmon-ng start wlan0 command has been entered to initiate monitor mode on the wireless interface wlan0." id="345" name="Google Shape;345;p26"/>
          <p:cNvPicPr preferRelativeResize="0"/>
          <p:nvPr/>
        </p:nvPicPr>
        <p:blipFill rotWithShape="1">
          <a:blip r:embed="rId3">
            <a:alphaModFix/>
          </a:blip>
          <a:srcRect b="0" l="0" r="0" t="0"/>
          <a:stretch/>
        </p:blipFill>
        <p:spPr>
          <a:xfrm>
            <a:off x="581189" y="1442312"/>
            <a:ext cx="8953500" cy="4191000"/>
          </a:xfrm>
          <a:prstGeom prst="rect">
            <a:avLst/>
          </a:prstGeom>
          <a:noFill/>
          <a:ln>
            <a:noFill/>
          </a:ln>
        </p:spPr>
      </p:pic>
      <p:pic>
        <p:nvPicPr>
          <p:cNvPr descr="A screenshot of a terminal window showing the output of the iwconfig command with a network interface set to 'Monitor' mode highlighted." id="346" name="Google Shape;346;p26"/>
          <p:cNvPicPr preferRelativeResize="0"/>
          <p:nvPr/>
        </p:nvPicPr>
        <p:blipFill rotWithShape="1">
          <a:blip r:embed="rId4">
            <a:alphaModFix/>
          </a:blip>
          <a:srcRect b="0" l="0" r="0" t="0"/>
          <a:stretch/>
        </p:blipFill>
        <p:spPr>
          <a:xfrm>
            <a:off x="4427621" y="3401020"/>
            <a:ext cx="7033682" cy="34569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7"/>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ASSESSMENT</a:t>
            </a:r>
            <a:endParaRPr/>
          </a:p>
        </p:txBody>
      </p:sp>
      <p:sp>
        <p:nvSpPr>
          <p:cNvPr id="352" name="Google Shape;352;p27"/>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165792" lvl="0" marL="306000" rtl="0" algn="l">
              <a:lnSpc>
                <a:spcPct val="110000"/>
              </a:lnSpc>
              <a:spcBef>
                <a:spcPts val="0"/>
              </a:spcBef>
              <a:spcAft>
                <a:spcPts val="0"/>
              </a:spcAft>
              <a:buSzPts val="2208"/>
              <a:buNone/>
            </a:pPr>
            <a:r>
              <a:t/>
            </a:r>
            <a:endParaRPr/>
          </a:p>
        </p:txBody>
      </p:sp>
      <p:sp>
        <p:nvSpPr>
          <p:cNvPr id="353" name="Google Shape;353;p27"/>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54" name="Google Shape;354;p27"/>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screenshot of a command line interface where the user is about to execute the sudo airodump-ng wlan0mon command to begin monitoring wireless networks." id="355" name="Google Shape;355;p27"/>
          <p:cNvPicPr preferRelativeResize="0"/>
          <p:nvPr/>
        </p:nvPicPr>
        <p:blipFill rotWithShape="1">
          <a:blip r:embed="rId3">
            <a:alphaModFix/>
          </a:blip>
          <a:srcRect b="0" l="0" r="0" t="37333"/>
          <a:stretch/>
        </p:blipFill>
        <p:spPr>
          <a:xfrm>
            <a:off x="581189" y="1442311"/>
            <a:ext cx="5391150" cy="740157"/>
          </a:xfrm>
          <a:prstGeom prst="rect">
            <a:avLst/>
          </a:prstGeom>
          <a:noFill/>
          <a:ln>
            <a:noFill/>
          </a:ln>
        </p:spPr>
      </p:pic>
      <p:pic>
        <p:nvPicPr>
          <p:cNvPr descr="A screenshot of a network scanning tool displaying various wireless networks with blurred BSSIDs and one network named &quot;Test&quot; clearly shown, including signal strength, data packets, and encryption details." id="356" name="Google Shape;356;p27"/>
          <p:cNvPicPr preferRelativeResize="0"/>
          <p:nvPr/>
        </p:nvPicPr>
        <p:blipFill rotWithShape="1">
          <a:blip r:embed="rId4">
            <a:alphaModFix/>
          </a:blip>
          <a:srcRect b="0" l="0" r="0" t="0"/>
          <a:stretch/>
        </p:blipFill>
        <p:spPr>
          <a:xfrm>
            <a:off x="1255044" y="2336319"/>
            <a:ext cx="8943975" cy="3819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8"/>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ASSESSMENT</a:t>
            </a:r>
            <a:endParaRPr/>
          </a:p>
        </p:txBody>
      </p:sp>
      <p:sp>
        <p:nvSpPr>
          <p:cNvPr id="362" name="Google Shape;362;p28"/>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208"/>
              <a:buNone/>
            </a:pPr>
            <a:r>
              <a:rPr lang="en-US">
                <a:latin typeface="Courier New"/>
                <a:ea typeface="Courier New"/>
                <a:cs typeface="Courier New"/>
                <a:sym typeface="Courier New"/>
              </a:rPr>
              <a:t>airodump-ng -d 'bssid' -c 'channel' -w test wlan0mon</a:t>
            </a:r>
            <a:endParaRPr/>
          </a:p>
          <a:p>
            <a:pPr indent="0" lvl="0" marL="0" rtl="0" algn="l">
              <a:lnSpc>
                <a:spcPct val="110000"/>
              </a:lnSpc>
              <a:spcBef>
                <a:spcPts val="1080"/>
              </a:spcBef>
              <a:spcAft>
                <a:spcPts val="0"/>
              </a:spcAft>
              <a:buSzPts val="2208"/>
              <a:buNone/>
            </a:pPr>
            <a:r>
              <a:rPr b="0" i="0" lang="en-US">
                <a:solidFill>
                  <a:srgbClr val="000000"/>
                </a:solidFill>
              </a:rPr>
              <a:t>This command utilizes ‘airodump-ng’ to capture detailed information about the selected Wi-Fi network, saving the results in a file named ‘test’ for further analysis. </a:t>
            </a:r>
            <a:endParaRPr/>
          </a:p>
        </p:txBody>
      </p:sp>
      <p:sp>
        <p:nvSpPr>
          <p:cNvPr id="363" name="Google Shape;363;p28"/>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64" name="Google Shape;364;p28"/>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screenshot of a terminal window showing the output of the airodump-ng command monitoring a specific wireless network, displaying network details such as BSSID, power, beacons, and encryption type." id="365" name="Google Shape;365;p28"/>
          <p:cNvPicPr preferRelativeResize="0"/>
          <p:nvPr/>
        </p:nvPicPr>
        <p:blipFill rotWithShape="1">
          <a:blip r:embed="rId3">
            <a:alphaModFix/>
          </a:blip>
          <a:srcRect b="0" l="0" r="0" t="0"/>
          <a:stretch/>
        </p:blipFill>
        <p:spPr>
          <a:xfrm>
            <a:off x="1619249" y="3231732"/>
            <a:ext cx="8953500" cy="24479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29"/>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ASSESSMENT</a:t>
            </a:r>
            <a:endParaRPr/>
          </a:p>
        </p:txBody>
      </p:sp>
      <p:sp>
        <p:nvSpPr>
          <p:cNvPr id="371" name="Google Shape;371;p29"/>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208"/>
              <a:buNone/>
            </a:pPr>
            <a:r>
              <a:rPr lang="en-US">
                <a:latin typeface="courier new"/>
                <a:ea typeface="courier new"/>
                <a:cs typeface="courier new"/>
                <a:sym typeface="courier new"/>
              </a:rPr>
              <a:t>a</a:t>
            </a:r>
            <a:r>
              <a:rPr b="0" i="0" lang="en-US">
                <a:latin typeface="courier new"/>
                <a:ea typeface="courier new"/>
                <a:cs typeface="courier new"/>
                <a:sym typeface="courier new"/>
              </a:rPr>
              <a:t>irplay-ng --deauth 0 -a &lt;AP mac&gt; -c &lt;client mac&gt; </a:t>
            </a:r>
            <a:r>
              <a:rPr lang="en-US">
                <a:latin typeface="Courier New"/>
                <a:ea typeface="Courier New"/>
                <a:cs typeface="Courier New"/>
                <a:sym typeface="Courier New"/>
              </a:rPr>
              <a:t>wlan0mon</a:t>
            </a:r>
            <a:endParaRPr/>
          </a:p>
          <a:p>
            <a:pPr indent="0" lvl="0" marL="0" rtl="0" algn="l">
              <a:lnSpc>
                <a:spcPct val="110000"/>
              </a:lnSpc>
              <a:spcBef>
                <a:spcPts val="1080"/>
              </a:spcBef>
              <a:spcAft>
                <a:spcPts val="0"/>
              </a:spcAft>
              <a:buSzPts val="2208"/>
              <a:buNone/>
            </a:pPr>
            <a:r>
              <a:rPr b="0" i="0" lang="en-US">
                <a:solidFill>
                  <a:srgbClr val="000000"/>
                </a:solidFill>
              </a:rPr>
              <a:t>This command utilizes performs de-authentication attacks on the specified target access point and client, disrupting their connection. </a:t>
            </a:r>
            <a:endParaRPr/>
          </a:p>
          <a:p>
            <a:pPr indent="0" lvl="0" marL="0" rtl="0" algn="l">
              <a:lnSpc>
                <a:spcPct val="110000"/>
              </a:lnSpc>
              <a:spcBef>
                <a:spcPts val="1080"/>
              </a:spcBef>
              <a:spcAft>
                <a:spcPts val="0"/>
              </a:spcAft>
              <a:buSzPts val="2208"/>
              <a:buNone/>
            </a:pPr>
            <a:r>
              <a:rPr lang="en-US"/>
              <a:t>A handshake will be captured in the initial terminal, which can later be utilized for potential cryptographic key cracking</a:t>
            </a:r>
            <a:endParaRPr/>
          </a:p>
        </p:txBody>
      </p:sp>
      <p:sp>
        <p:nvSpPr>
          <p:cNvPr id="372" name="Google Shape;372;p29"/>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73" name="Google Shape;373;p29"/>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descr="A screenshot of a terminal window showing the output of the command airodump-ng capturing wireless network data, with a focus on a captured WPA handshake for network analysis." id="374" name="Google Shape;374;p29"/>
          <p:cNvPicPr preferRelativeResize="0"/>
          <p:nvPr/>
        </p:nvPicPr>
        <p:blipFill rotWithShape="1">
          <a:blip r:embed="rId3">
            <a:alphaModFix/>
          </a:blip>
          <a:srcRect b="0" l="0" r="0" t="0"/>
          <a:stretch/>
        </p:blipFill>
        <p:spPr>
          <a:xfrm>
            <a:off x="1619249" y="3978669"/>
            <a:ext cx="8953500" cy="24669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0"/>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ASSESSMENT</a:t>
            </a:r>
            <a:endParaRPr/>
          </a:p>
        </p:txBody>
      </p:sp>
      <p:sp>
        <p:nvSpPr>
          <p:cNvPr id="380" name="Google Shape;380;p30"/>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81" name="Google Shape;381;p30"/>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2" name="Google Shape;382;p30"/>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840"/>
              <a:buNone/>
            </a:pPr>
            <a:r>
              <a:rPr lang="en-US" sz="2000">
                <a:latin typeface="Courier New"/>
                <a:ea typeface="Courier New"/>
                <a:cs typeface="Courier New"/>
                <a:sym typeface="Courier New"/>
              </a:rPr>
              <a:t>aircrack-ng -b [bssid] -w [word list] [path to packets capture]</a:t>
            </a:r>
            <a:endParaRPr/>
          </a:p>
        </p:txBody>
      </p:sp>
      <p:pic>
        <p:nvPicPr>
          <p:cNvPr descr="Aircrack-ng command" id="383" name="Google Shape;383;p30"/>
          <p:cNvPicPr preferRelativeResize="0"/>
          <p:nvPr/>
        </p:nvPicPr>
        <p:blipFill rotWithShape="1">
          <a:blip r:embed="rId3">
            <a:alphaModFix/>
          </a:blip>
          <a:srcRect b="0" l="0" r="0" t="0"/>
          <a:stretch/>
        </p:blipFill>
        <p:spPr>
          <a:xfrm>
            <a:off x="1576670" y="2182468"/>
            <a:ext cx="9038658" cy="361546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1"/>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3600"/>
              <a:buFont typeface="Franklin Gothic"/>
              <a:buNone/>
            </a:pPr>
            <a:r>
              <a:rPr lang="en-US"/>
              <a:t>WI-FI SECURITY MEASURES</a:t>
            </a:r>
            <a:endParaRPr/>
          </a:p>
        </p:txBody>
      </p:sp>
      <p:sp>
        <p:nvSpPr>
          <p:cNvPr id="389" name="Google Shape;389;p31"/>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656"/>
              <a:buNone/>
            </a:pPr>
            <a:r>
              <a:t/>
            </a:r>
            <a:endParaRPr/>
          </a:p>
        </p:txBody>
      </p:sp>
      <p:sp>
        <p:nvSpPr>
          <p:cNvPr id="390" name="Google Shape;390;p31"/>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391" name="Google Shape;391;p31"/>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2"/>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MEASURES</a:t>
            </a:r>
            <a:endParaRPr/>
          </a:p>
        </p:txBody>
      </p:sp>
      <p:sp>
        <p:nvSpPr>
          <p:cNvPr id="397" name="Google Shape;397;p32"/>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t>Encrypt using WPA2 or </a:t>
            </a:r>
            <a:r>
              <a:rPr lang="en-US">
                <a:solidFill>
                  <a:schemeClr val="accent2"/>
                </a:solidFill>
              </a:rPr>
              <a:t>WPA3</a:t>
            </a:r>
            <a:r>
              <a:rPr lang="en-US"/>
              <a:t>. Remove WPS, Prefer Enterprise over PSK</a:t>
            </a:r>
            <a:endParaRPr/>
          </a:p>
          <a:p>
            <a:pPr indent="-306000" lvl="0" marL="306000" rtl="0" algn="l">
              <a:lnSpc>
                <a:spcPct val="110000"/>
              </a:lnSpc>
              <a:spcBef>
                <a:spcPts val="1080"/>
              </a:spcBef>
              <a:spcAft>
                <a:spcPts val="0"/>
              </a:spcAft>
              <a:buSzPts val="2208"/>
              <a:buChar char="◼"/>
            </a:pPr>
            <a:r>
              <a:rPr lang="en-US">
                <a:solidFill>
                  <a:schemeClr val="accent2"/>
                </a:solidFill>
              </a:rPr>
              <a:t>Change</a:t>
            </a:r>
            <a:r>
              <a:rPr lang="en-US"/>
              <a:t> default SSID and passwords. </a:t>
            </a:r>
            <a:endParaRPr/>
          </a:p>
          <a:p>
            <a:pPr indent="-306000" lvl="0" marL="306000" rtl="0" algn="l">
              <a:lnSpc>
                <a:spcPct val="110000"/>
              </a:lnSpc>
              <a:spcBef>
                <a:spcPts val="1080"/>
              </a:spcBef>
              <a:spcAft>
                <a:spcPts val="0"/>
              </a:spcAft>
              <a:buSzPts val="2208"/>
              <a:buChar char="◼"/>
            </a:pPr>
            <a:r>
              <a:rPr lang="en-US"/>
              <a:t>Use long </a:t>
            </a:r>
            <a:r>
              <a:rPr lang="en-US">
                <a:solidFill>
                  <a:schemeClr val="accent2"/>
                </a:solidFill>
              </a:rPr>
              <a:t>passwords</a:t>
            </a:r>
            <a:r>
              <a:rPr lang="en-US"/>
              <a:t> including spaces and special characters (e.g. $)</a:t>
            </a:r>
            <a:endParaRPr/>
          </a:p>
          <a:p>
            <a:pPr indent="-306000" lvl="0" marL="306000" rtl="0" algn="l">
              <a:lnSpc>
                <a:spcPct val="110000"/>
              </a:lnSpc>
              <a:spcBef>
                <a:spcPts val="1080"/>
              </a:spcBef>
              <a:spcAft>
                <a:spcPts val="0"/>
              </a:spcAft>
              <a:buSzPts val="2208"/>
              <a:buChar char="◼"/>
            </a:pPr>
            <a:r>
              <a:rPr lang="en-US"/>
              <a:t>Don’t have </a:t>
            </a:r>
            <a:r>
              <a:rPr lang="en-US">
                <a:solidFill>
                  <a:schemeClr val="accent2"/>
                </a:solidFill>
              </a:rPr>
              <a:t>SSIDs</a:t>
            </a:r>
            <a:r>
              <a:rPr lang="en-US"/>
              <a:t> that are personally identifiable</a:t>
            </a:r>
            <a:endParaRPr/>
          </a:p>
          <a:p>
            <a:pPr indent="-306000" lvl="0" marL="306000" rtl="0" algn="l">
              <a:lnSpc>
                <a:spcPct val="110000"/>
              </a:lnSpc>
              <a:spcBef>
                <a:spcPts val="1080"/>
              </a:spcBef>
              <a:spcAft>
                <a:spcPts val="0"/>
              </a:spcAft>
              <a:buSzPts val="2208"/>
              <a:buChar char="◼"/>
            </a:pPr>
            <a:r>
              <a:rPr lang="en-US"/>
              <a:t>Turn off </a:t>
            </a:r>
            <a:r>
              <a:rPr lang="en-US">
                <a:solidFill>
                  <a:schemeClr val="accent2"/>
                </a:solidFill>
              </a:rPr>
              <a:t>AP discoverability </a:t>
            </a:r>
            <a:r>
              <a:rPr lang="en-US"/>
              <a:t>e.g. by hiding SSID</a:t>
            </a:r>
            <a:endParaRPr/>
          </a:p>
          <a:p>
            <a:pPr indent="-306000" lvl="0" marL="306000" rtl="0" algn="l">
              <a:lnSpc>
                <a:spcPct val="110000"/>
              </a:lnSpc>
              <a:spcBef>
                <a:spcPts val="1080"/>
              </a:spcBef>
              <a:spcAft>
                <a:spcPts val="0"/>
              </a:spcAft>
              <a:buSzPts val="2208"/>
              <a:buChar char="◼"/>
            </a:pPr>
            <a:r>
              <a:rPr lang="en-US">
                <a:solidFill>
                  <a:schemeClr val="accent2"/>
                </a:solidFill>
              </a:rPr>
              <a:t>Turn off WiFi </a:t>
            </a:r>
            <a:r>
              <a:rPr lang="en-US"/>
              <a:t>connectivity when not in use.</a:t>
            </a:r>
            <a:endParaRPr/>
          </a:p>
          <a:p>
            <a:pPr indent="-306000" lvl="0" marL="306000" rtl="0" algn="l">
              <a:lnSpc>
                <a:spcPct val="110000"/>
              </a:lnSpc>
              <a:spcBef>
                <a:spcPts val="1080"/>
              </a:spcBef>
              <a:spcAft>
                <a:spcPts val="0"/>
              </a:spcAft>
              <a:buSzPts val="2208"/>
              <a:buChar char="◼"/>
            </a:pPr>
            <a:r>
              <a:rPr lang="en-US"/>
              <a:t>Reduce </a:t>
            </a:r>
            <a:r>
              <a:rPr lang="en-US">
                <a:solidFill>
                  <a:schemeClr val="accent2"/>
                </a:solidFill>
              </a:rPr>
              <a:t>signal strength </a:t>
            </a:r>
            <a:r>
              <a:rPr lang="en-US"/>
              <a:t>and manage the geographical signal reach</a:t>
            </a:r>
            <a:endParaRPr/>
          </a:p>
          <a:p>
            <a:pPr indent="-306000" lvl="0" marL="306000" rtl="0" algn="l">
              <a:lnSpc>
                <a:spcPct val="110000"/>
              </a:lnSpc>
              <a:spcBef>
                <a:spcPts val="1080"/>
              </a:spcBef>
              <a:spcAft>
                <a:spcPts val="0"/>
              </a:spcAft>
              <a:buSzPts val="2208"/>
              <a:buChar char="◼"/>
            </a:pPr>
            <a:r>
              <a:rPr lang="en-US"/>
              <a:t>Use </a:t>
            </a:r>
            <a:r>
              <a:rPr lang="en-US">
                <a:solidFill>
                  <a:schemeClr val="accent2"/>
                </a:solidFill>
              </a:rPr>
              <a:t>MAC filtering </a:t>
            </a:r>
            <a:r>
              <a:rPr lang="en-US"/>
              <a:t>and also narrow pool of DHCP addresses allocatable</a:t>
            </a:r>
            <a:endParaRPr/>
          </a:p>
          <a:p>
            <a:pPr indent="0" lvl="0" marL="0" rtl="0" algn="l">
              <a:lnSpc>
                <a:spcPct val="110000"/>
              </a:lnSpc>
              <a:spcBef>
                <a:spcPts val="1080"/>
              </a:spcBef>
              <a:spcAft>
                <a:spcPts val="0"/>
              </a:spcAft>
              <a:buSzPts val="2208"/>
              <a:buNone/>
            </a:pPr>
            <a:r>
              <a:t/>
            </a:r>
            <a:endParaRPr/>
          </a:p>
        </p:txBody>
      </p:sp>
      <p:sp>
        <p:nvSpPr>
          <p:cNvPr id="398" name="Google Shape;398;p32"/>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399" name="Google Shape;399;p32"/>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3"/>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WIFI SECURITY MEASURES</a:t>
            </a:r>
            <a:endParaRPr/>
          </a:p>
        </p:txBody>
      </p:sp>
      <p:sp>
        <p:nvSpPr>
          <p:cNvPr id="405" name="Google Shape;405;p33"/>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t>If you use public Wi-Fi hotspots on a regular basis, use a </a:t>
            </a:r>
            <a:r>
              <a:rPr lang="en-US">
                <a:solidFill>
                  <a:schemeClr val="accent2"/>
                </a:solidFill>
              </a:rPr>
              <a:t>Virtual Private Network</a:t>
            </a:r>
            <a:r>
              <a:rPr lang="en-US"/>
              <a:t>, which will encrypt all transmissions between your device and the internet. </a:t>
            </a:r>
            <a:endParaRPr/>
          </a:p>
          <a:p>
            <a:pPr indent="-306000" lvl="0" marL="306000" rtl="0" algn="l">
              <a:lnSpc>
                <a:spcPct val="110000"/>
              </a:lnSpc>
              <a:spcBef>
                <a:spcPts val="1080"/>
              </a:spcBef>
              <a:spcAft>
                <a:spcPts val="0"/>
              </a:spcAft>
              <a:buSzPts val="2208"/>
              <a:buChar char="◼"/>
            </a:pPr>
            <a:r>
              <a:rPr lang="en-US"/>
              <a:t>When transmitting sensitive information, using your </a:t>
            </a:r>
            <a:r>
              <a:rPr lang="en-US">
                <a:solidFill>
                  <a:schemeClr val="accent2"/>
                </a:solidFill>
              </a:rPr>
              <a:t>mobile phone data </a:t>
            </a:r>
            <a:r>
              <a:rPr lang="en-US"/>
              <a:t>plan instead of Wi-Fi may be more secure.</a:t>
            </a:r>
            <a:endParaRPr/>
          </a:p>
          <a:p>
            <a:pPr indent="-306000" lvl="0" marL="306000" rtl="0" algn="l">
              <a:lnSpc>
                <a:spcPct val="110000"/>
              </a:lnSpc>
              <a:spcBef>
                <a:spcPts val="1080"/>
              </a:spcBef>
              <a:spcAft>
                <a:spcPts val="0"/>
              </a:spcAft>
              <a:buSzPts val="2208"/>
              <a:buChar char="◼"/>
            </a:pPr>
            <a:r>
              <a:rPr lang="en-US"/>
              <a:t>Ensure to use "https" so that transmitted data will be encrypted. Use app add-on that </a:t>
            </a:r>
            <a:r>
              <a:rPr lang="en-US">
                <a:solidFill>
                  <a:schemeClr val="accent2"/>
                </a:solidFill>
              </a:rPr>
              <a:t>forces your web browsers to use encryption </a:t>
            </a:r>
            <a:r>
              <a:rPr lang="en-US"/>
              <a:t>when connecting to websites.</a:t>
            </a:r>
            <a:endParaRPr/>
          </a:p>
          <a:p>
            <a:pPr indent="-306000" lvl="0" marL="306000" rtl="0" algn="l">
              <a:lnSpc>
                <a:spcPct val="110000"/>
              </a:lnSpc>
              <a:spcBef>
                <a:spcPts val="1080"/>
              </a:spcBef>
              <a:spcAft>
                <a:spcPts val="0"/>
              </a:spcAft>
              <a:buSzPts val="2208"/>
              <a:buChar char="◼"/>
            </a:pPr>
            <a:r>
              <a:rPr lang="en-US"/>
              <a:t>Check the </a:t>
            </a:r>
            <a:r>
              <a:rPr lang="en-US">
                <a:solidFill>
                  <a:schemeClr val="accent2"/>
                </a:solidFill>
              </a:rPr>
              <a:t>validity of Wi-Fi hotspots </a:t>
            </a:r>
            <a:r>
              <a:rPr lang="en-US"/>
              <a:t>especially If more than one hotspot appears claiming to belong to an establishment that you're in to avoid rouge hotspots.</a:t>
            </a:r>
            <a:endParaRPr/>
          </a:p>
          <a:p>
            <a:pPr indent="-306000" lvl="0" marL="306000" rtl="0" algn="l">
              <a:lnSpc>
                <a:spcPct val="110000"/>
              </a:lnSpc>
              <a:spcBef>
                <a:spcPts val="1080"/>
              </a:spcBef>
              <a:spcAft>
                <a:spcPts val="0"/>
              </a:spcAft>
              <a:buSzPts val="2208"/>
              <a:buChar char="◼"/>
            </a:pPr>
            <a:r>
              <a:rPr lang="en-US"/>
              <a:t>Adjust your settings so it </a:t>
            </a:r>
            <a:r>
              <a:rPr lang="en-US">
                <a:solidFill>
                  <a:schemeClr val="accent2"/>
                </a:solidFill>
              </a:rPr>
              <a:t>does not automatically connect </a:t>
            </a:r>
            <a:r>
              <a:rPr lang="en-US"/>
              <a:t>to nearby Wi-Fi networks. This gives you more control over where and when you connect.</a:t>
            </a:r>
            <a:endParaRPr/>
          </a:p>
          <a:p>
            <a:pPr indent="0" lvl="0" marL="0" rtl="0" algn="l">
              <a:lnSpc>
                <a:spcPct val="110000"/>
              </a:lnSpc>
              <a:spcBef>
                <a:spcPts val="1080"/>
              </a:spcBef>
              <a:spcAft>
                <a:spcPts val="0"/>
              </a:spcAft>
              <a:buSzPts val="2208"/>
              <a:buNone/>
            </a:pPr>
            <a:r>
              <a:t/>
            </a:r>
            <a:endParaRPr/>
          </a:p>
        </p:txBody>
      </p:sp>
      <p:sp>
        <p:nvSpPr>
          <p:cNvPr id="406" name="Google Shape;406;p33"/>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407" name="Google Shape;407;p33"/>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4"/>
          <p:cNvSpPr txBox="1"/>
          <p:nvPr>
            <p:ph type="title"/>
          </p:nvPr>
        </p:nvSpPr>
        <p:spPr>
          <a:xfrm>
            <a:off x="581192" y="702156"/>
            <a:ext cx="11029616" cy="74015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2800"/>
              <a:buFont typeface="Franklin Gothic"/>
              <a:buNone/>
            </a:pPr>
            <a:r>
              <a:rPr lang="en-US"/>
              <a:t>BLUETOOTH SECURITY</a:t>
            </a:r>
            <a:endParaRPr/>
          </a:p>
        </p:txBody>
      </p:sp>
      <p:sp>
        <p:nvSpPr>
          <p:cNvPr id="413" name="Google Shape;413;p34"/>
          <p:cNvSpPr txBox="1"/>
          <p:nvPr>
            <p:ph idx="1" type="body"/>
          </p:nvPr>
        </p:nvSpPr>
        <p:spPr>
          <a:xfrm>
            <a:off x="581192" y="1442312"/>
            <a:ext cx="11029615" cy="4981602"/>
          </a:xfrm>
          <a:prstGeom prst="rect">
            <a:avLst/>
          </a:prstGeom>
          <a:noFill/>
          <a:ln>
            <a:noFill/>
          </a:ln>
        </p:spPr>
        <p:txBody>
          <a:bodyPr anchorCtr="0" anchor="t" bIns="45700" lIns="91425" spcFirstLastPara="1" rIns="91425" wrap="square" tIns="45700">
            <a:normAutofit/>
          </a:bodyPr>
          <a:lstStyle/>
          <a:p>
            <a:pPr indent="-306000" lvl="0" marL="306000" rtl="0" algn="l">
              <a:lnSpc>
                <a:spcPct val="110000"/>
              </a:lnSpc>
              <a:spcBef>
                <a:spcPts val="0"/>
              </a:spcBef>
              <a:spcAft>
                <a:spcPts val="0"/>
              </a:spcAft>
              <a:buSzPts val="2208"/>
              <a:buChar char="◼"/>
            </a:pPr>
            <a:r>
              <a:rPr lang="en-US"/>
              <a:t>Update Bluetooth devices and install security patches and updates.</a:t>
            </a:r>
            <a:endParaRPr/>
          </a:p>
          <a:p>
            <a:pPr indent="-306000" lvl="0" marL="306000" rtl="0" algn="l">
              <a:lnSpc>
                <a:spcPct val="110000"/>
              </a:lnSpc>
              <a:spcBef>
                <a:spcPts val="1080"/>
              </a:spcBef>
              <a:spcAft>
                <a:spcPts val="0"/>
              </a:spcAft>
              <a:buSzPts val="2208"/>
              <a:buChar char="◼"/>
            </a:pPr>
            <a:r>
              <a:rPr lang="en-US"/>
              <a:t>Use strong unique passwords</a:t>
            </a:r>
            <a:endParaRPr/>
          </a:p>
          <a:p>
            <a:pPr indent="-306000" lvl="0" marL="306000" rtl="0" algn="l">
              <a:lnSpc>
                <a:spcPct val="110000"/>
              </a:lnSpc>
              <a:spcBef>
                <a:spcPts val="1080"/>
              </a:spcBef>
              <a:spcAft>
                <a:spcPts val="0"/>
              </a:spcAft>
              <a:buSzPts val="2208"/>
              <a:buChar char="◼"/>
            </a:pPr>
            <a:r>
              <a:rPr lang="en-US"/>
              <a:t>Make your Bluetooth device not discoverable.</a:t>
            </a:r>
            <a:endParaRPr/>
          </a:p>
          <a:p>
            <a:pPr indent="-306000" lvl="0" marL="306000" rtl="0" algn="l">
              <a:lnSpc>
                <a:spcPct val="110000"/>
              </a:lnSpc>
              <a:spcBef>
                <a:spcPts val="1080"/>
              </a:spcBef>
              <a:spcAft>
                <a:spcPts val="0"/>
              </a:spcAft>
              <a:buSzPts val="2208"/>
              <a:buChar char="◼"/>
            </a:pPr>
            <a:r>
              <a:rPr lang="en-US"/>
              <a:t>Don’t share sensitive information via Bluetooth.</a:t>
            </a:r>
            <a:endParaRPr/>
          </a:p>
          <a:p>
            <a:pPr indent="-306000" lvl="0" marL="306000" rtl="0" algn="l">
              <a:lnSpc>
                <a:spcPct val="110000"/>
              </a:lnSpc>
              <a:spcBef>
                <a:spcPts val="1080"/>
              </a:spcBef>
              <a:spcAft>
                <a:spcPts val="0"/>
              </a:spcAft>
              <a:buSzPts val="2208"/>
              <a:buChar char="◼"/>
            </a:pPr>
            <a:r>
              <a:rPr lang="en-US"/>
              <a:t>Be careful who you connect with.</a:t>
            </a:r>
            <a:endParaRPr/>
          </a:p>
          <a:p>
            <a:pPr indent="-306000" lvl="0" marL="306000" rtl="0" algn="l">
              <a:lnSpc>
                <a:spcPct val="110000"/>
              </a:lnSpc>
              <a:spcBef>
                <a:spcPts val="1080"/>
              </a:spcBef>
              <a:spcAft>
                <a:spcPts val="0"/>
              </a:spcAft>
              <a:buSzPts val="2208"/>
              <a:buChar char="◼"/>
            </a:pPr>
            <a:r>
              <a:rPr lang="en-US"/>
              <a:t>Turn your Bluetooth off if not in use</a:t>
            </a:r>
            <a:endParaRPr/>
          </a:p>
          <a:p>
            <a:pPr indent="-306000" lvl="0" marL="306000" rtl="0" algn="l">
              <a:lnSpc>
                <a:spcPct val="110000"/>
              </a:lnSpc>
              <a:spcBef>
                <a:spcPts val="1080"/>
              </a:spcBef>
              <a:spcAft>
                <a:spcPts val="0"/>
              </a:spcAft>
              <a:buSzPts val="2208"/>
              <a:buChar char="◼"/>
            </a:pPr>
            <a:r>
              <a:rPr lang="en-US"/>
              <a:t>Don’t pair devices in public.</a:t>
            </a:r>
            <a:endParaRPr/>
          </a:p>
          <a:p>
            <a:pPr indent="-306000" lvl="0" marL="306000" rtl="0" algn="l">
              <a:lnSpc>
                <a:spcPct val="110000"/>
              </a:lnSpc>
              <a:spcBef>
                <a:spcPts val="1080"/>
              </a:spcBef>
              <a:spcAft>
                <a:spcPts val="0"/>
              </a:spcAft>
              <a:buSzPts val="2208"/>
              <a:buChar char="◼"/>
            </a:pPr>
            <a:r>
              <a:rPr lang="en-US"/>
              <a:t>Unpair devices as needed.</a:t>
            </a:r>
            <a:endParaRPr/>
          </a:p>
        </p:txBody>
      </p:sp>
      <p:sp>
        <p:nvSpPr>
          <p:cNvPr id="414" name="Google Shape;414;p34"/>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CLOUD &amp; NETWORK SECURITY</a:t>
            </a:r>
            <a:endParaRPr/>
          </a:p>
        </p:txBody>
      </p:sp>
      <p:sp>
        <p:nvSpPr>
          <p:cNvPr id="415" name="Google Shape;415;p34"/>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5"/>
          <p:cNvSpPr txBox="1"/>
          <p:nvPr>
            <p:ph type="title"/>
          </p:nvPr>
        </p:nvSpPr>
        <p:spPr>
          <a:xfrm>
            <a:off x="581193" y="2393950"/>
            <a:ext cx="11029615" cy="214746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3F3F3F"/>
              </a:buClr>
              <a:buSzPts val="3600"/>
              <a:buFont typeface="Franklin Gothic"/>
              <a:buNone/>
            </a:pPr>
            <a:r>
              <a:rPr lang="en-US"/>
              <a:t>QUESTIONS</a:t>
            </a:r>
            <a:endParaRPr/>
          </a:p>
        </p:txBody>
      </p:sp>
      <p:sp>
        <p:nvSpPr>
          <p:cNvPr id="421" name="Google Shape;421;p35"/>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1656"/>
              <a:buNone/>
            </a:pPr>
            <a:r>
              <a:t/>
            </a:r>
            <a:endParaRPr/>
          </a:p>
        </p:txBody>
      </p:sp>
      <p:sp>
        <p:nvSpPr>
          <p:cNvPr id="422" name="Google Shape;422;p35"/>
          <p:cNvSpPr txBox="1"/>
          <p:nvPr>
            <p:ph idx="11" type="ftr"/>
          </p:nvPr>
        </p:nvSpPr>
        <p:spPr>
          <a:xfrm>
            <a:off x="581192" y="6423914"/>
            <a:ext cx="691721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CYBER SHUJAA - WIRELESS NETWORK SECURITY</a:t>
            </a:r>
            <a:endParaRPr/>
          </a:p>
        </p:txBody>
      </p:sp>
      <p:sp>
        <p:nvSpPr>
          <p:cNvPr id="423" name="Google Shape;423;p35"/>
          <p:cNvSpPr txBox="1"/>
          <p:nvPr>
            <p:ph idx="12" type="sldNum"/>
          </p:nvPr>
        </p:nvSpPr>
        <p:spPr>
          <a:xfrm>
            <a:off x="10558300" y="6423914"/>
            <a:ext cx="105251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14:dur="800">
    <p:circle/>
  </p:transition>
</p:sld>
</file>

<file path=ppt/theme/theme1.xml><?xml version="1.0" encoding="utf-8"?>
<a:theme xmlns:a="http://schemas.openxmlformats.org/drawingml/2006/main" xmlns:r="http://schemas.openxmlformats.org/officeDocument/2006/relationships"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2021-09-07T07:04:38Z</dcterms:created>
</cp:coreProperties>
</file>